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1430000" cy="10210800"/>
  <p:notesSz cx="6858000" cy="9144000"/>
  <p:embeddedFontLst>
    <p:embeddedFont>
      <p:font typeface="Noto Serif" charset="1" panose="02020600060500020200"/>
      <p:regular r:id="rId15"/>
    </p:embeddedFont>
    <p:embeddedFont>
      <p:font typeface="Noto Serif Italics" charset="1" panose="02020600060500090200"/>
      <p:regular r:id="rId16"/>
    </p:embeddedFont>
    <p:embeddedFont>
      <p:font typeface="Noto Serif Bold" charset="1" panose="020208000605000202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E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1822704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143750" y="1895475"/>
            <a:ext cx="4286250" cy="6429375"/>
          </a:xfrm>
          <a:custGeom>
            <a:avLst/>
            <a:gdLst/>
            <a:ahLst/>
            <a:cxnLst/>
            <a:rect r="r" b="b" t="t" l="l"/>
            <a:pathLst>
              <a:path h="6429375" w="4286250">
                <a:moveTo>
                  <a:pt x="0" y="0"/>
                </a:moveTo>
                <a:lnTo>
                  <a:pt x="4286250" y="0"/>
                </a:lnTo>
                <a:lnTo>
                  <a:pt x="4286250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0163" y="3129201"/>
            <a:ext cx="6065044" cy="2225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49"/>
              </a:lnSpc>
            </a:pPr>
            <a:r>
              <a:rPr lang="en-US" sz="3488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Effect of delayed isolation of peripheral blood mononuclear cells on cell viability and functionality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2117" y="5457958"/>
            <a:ext cx="46987" cy="39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37821" y="5458282"/>
            <a:ext cx="1609715" cy="39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1437" i="true">
                <a:solidFill>
                  <a:srgbClr val="4C4C4C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BMC Immunology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0163" y="5457958"/>
            <a:ext cx="2538355" cy="39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Artigo: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Lehleet al.|</a:t>
            </a: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Revista: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72898" y="5457958"/>
            <a:ext cx="575920" cy="39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(2025)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0163" y="5934208"/>
            <a:ext cx="5807669" cy="116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Margarida Silva n50362 | Jorge Santos n.º 52048 | Ricardo Madeira </a:t>
            </a:r>
          </a:p>
          <a:p>
            <a:pPr algn="l">
              <a:lnSpc>
                <a:spcPts val="1012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n.º52401</a:t>
            </a:r>
          </a:p>
          <a:p>
            <a:pPr algn="l">
              <a:lnSpc>
                <a:spcPts val="3487"/>
              </a:lnSpc>
            </a:pP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Data: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26.11.2025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514398"/>
            <a:ext cx="11556997" cy="9176252"/>
            <a:chOff x="0" y="0"/>
            <a:chExt cx="11557000" cy="91762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9048750"/>
            </a:xfrm>
            <a:custGeom>
              <a:avLst/>
              <a:gdLst/>
              <a:ahLst/>
              <a:cxnLst/>
              <a:rect r="r" b="b" t="t" l="l"/>
              <a:pathLst>
                <a:path h="9048750" w="11430000">
                  <a:moveTo>
                    <a:pt x="0" y="9048750"/>
                  </a:moveTo>
                  <a:lnTo>
                    <a:pt x="11430000" y="904875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4008"/>
              <a:ext cx="11430000" cy="9048242"/>
            </a:xfrm>
            <a:custGeom>
              <a:avLst/>
              <a:gdLst/>
              <a:ahLst/>
              <a:cxnLst/>
              <a:rect r="r" b="b" t="t" l="l"/>
              <a:pathLst>
                <a:path h="9048242" w="11430000">
                  <a:moveTo>
                    <a:pt x="0" y="0"/>
                  </a:moveTo>
                  <a:lnTo>
                    <a:pt x="0" y="9048242"/>
                  </a:lnTo>
                  <a:lnTo>
                    <a:pt x="11430000" y="9048242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E6DED2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9048750"/>
            </a:xfrm>
            <a:custGeom>
              <a:avLst/>
              <a:gdLst/>
              <a:ahLst/>
              <a:cxnLst/>
              <a:rect r="r" b="b" t="t" l="l"/>
              <a:pathLst>
                <a:path h="9048750" w="11430000">
                  <a:moveTo>
                    <a:pt x="0" y="9048750"/>
                  </a:moveTo>
                  <a:lnTo>
                    <a:pt x="11430000" y="904875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DED2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4008"/>
              <a:ext cx="11430000" cy="9048242"/>
            </a:xfrm>
            <a:custGeom>
              <a:avLst/>
              <a:gdLst/>
              <a:ahLst/>
              <a:cxnLst/>
              <a:rect r="r" b="b" t="t" l="l"/>
              <a:pathLst>
                <a:path h="9048242" w="11430000">
                  <a:moveTo>
                    <a:pt x="0" y="0"/>
                  </a:moveTo>
                  <a:lnTo>
                    <a:pt x="0" y="9048242"/>
                  </a:lnTo>
                  <a:lnTo>
                    <a:pt x="11430000" y="9048242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9112250"/>
              <a:ext cx="11430000" cy="508"/>
            </a:xfrm>
            <a:custGeom>
              <a:avLst/>
              <a:gdLst/>
              <a:ahLst/>
              <a:cxnLst/>
              <a:rect r="r" b="b" t="t" l="l"/>
              <a:pathLst>
                <a:path h="508" w="11430000">
                  <a:moveTo>
                    <a:pt x="0" y="0"/>
                  </a:moveTo>
                  <a:lnTo>
                    <a:pt x="0" y="508"/>
                  </a:lnTo>
                  <a:lnTo>
                    <a:pt x="11430000" y="508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7000875" y="2082851"/>
            <a:ext cx="3819525" cy="3819525"/>
            <a:chOff x="0" y="0"/>
            <a:chExt cx="5092700" cy="5092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2700" cy="5092700"/>
            </a:xfrm>
            <a:custGeom>
              <a:avLst/>
              <a:gdLst/>
              <a:ahLst/>
              <a:cxnLst/>
              <a:rect r="r" b="b" t="t" l="l"/>
              <a:pathLst>
                <a:path h="5092700" w="5092700">
                  <a:moveTo>
                    <a:pt x="82677" y="0"/>
                  </a:moveTo>
                  <a:cubicBezTo>
                    <a:pt x="71755" y="0"/>
                    <a:pt x="61214" y="2159"/>
                    <a:pt x="51054" y="6350"/>
                  </a:cubicBezTo>
                  <a:cubicBezTo>
                    <a:pt x="40894" y="10541"/>
                    <a:pt x="32004" y="16510"/>
                    <a:pt x="24257" y="24257"/>
                  </a:cubicBezTo>
                  <a:cubicBezTo>
                    <a:pt x="16510" y="32004"/>
                    <a:pt x="10541" y="40894"/>
                    <a:pt x="6223" y="51054"/>
                  </a:cubicBezTo>
                  <a:cubicBezTo>
                    <a:pt x="1905" y="61214"/>
                    <a:pt x="0" y="71755"/>
                    <a:pt x="0" y="82677"/>
                  </a:cubicBezTo>
                  <a:lnTo>
                    <a:pt x="0" y="5010023"/>
                  </a:lnTo>
                  <a:cubicBezTo>
                    <a:pt x="0" y="5020945"/>
                    <a:pt x="2159" y="5031486"/>
                    <a:pt x="6223" y="5041646"/>
                  </a:cubicBezTo>
                  <a:cubicBezTo>
                    <a:pt x="10287" y="5051806"/>
                    <a:pt x="16383" y="5060696"/>
                    <a:pt x="24130" y="5068443"/>
                  </a:cubicBezTo>
                  <a:cubicBezTo>
                    <a:pt x="31877" y="5076189"/>
                    <a:pt x="40767" y="5082158"/>
                    <a:pt x="50927" y="5086350"/>
                  </a:cubicBezTo>
                  <a:cubicBezTo>
                    <a:pt x="61087" y="5090541"/>
                    <a:pt x="71628" y="5092700"/>
                    <a:pt x="82550" y="5092700"/>
                  </a:cubicBezTo>
                  <a:lnTo>
                    <a:pt x="5010023" y="5092700"/>
                  </a:lnTo>
                  <a:cubicBezTo>
                    <a:pt x="5020945" y="5092700"/>
                    <a:pt x="5031486" y="5090540"/>
                    <a:pt x="5041646" y="5086350"/>
                  </a:cubicBezTo>
                  <a:cubicBezTo>
                    <a:pt x="5051806" y="5082159"/>
                    <a:pt x="5060696" y="5076190"/>
                    <a:pt x="5068443" y="5068443"/>
                  </a:cubicBezTo>
                  <a:cubicBezTo>
                    <a:pt x="5076189" y="5060695"/>
                    <a:pt x="5082158" y="5051678"/>
                    <a:pt x="5086350" y="5041646"/>
                  </a:cubicBezTo>
                  <a:cubicBezTo>
                    <a:pt x="5090541" y="5031613"/>
                    <a:pt x="5092700" y="5020945"/>
                    <a:pt x="5092700" y="5010023"/>
                  </a:cubicBezTo>
                  <a:lnTo>
                    <a:pt x="5092700" y="82677"/>
                  </a:lnTo>
                  <a:cubicBezTo>
                    <a:pt x="5092700" y="71755"/>
                    <a:pt x="5090540" y="61214"/>
                    <a:pt x="5086350" y="51054"/>
                  </a:cubicBezTo>
                  <a:cubicBezTo>
                    <a:pt x="5082159" y="40894"/>
                    <a:pt x="5076190" y="32004"/>
                    <a:pt x="5068443" y="24257"/>
                  </a:cubicBezTo>
                  <a:cubicBezTo>
                    <a:pt x="5060695" y="16510"/>
                    <a:pt x="5051806" y="10541"/>
                    <a:pt x="5041646" y="6350"/>
                  </a:cubicBezTo>
                  <a:cubicBezTo>
                    <a:pt x="5031486" y="2159"/>
                    <a:pt x="5020945" y="0"/>
                    <a:pt x="501002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555622" y="8039148"/>
            <a:ext cx="10318747" cy="1165222"/>
            <a:chOff x="0" y="0"/>
            <a:chExt cx="10318750" cy="11652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10191751" cy="1038225"/>
            </a:xfrm>
            <a:custGeom>
              <a:avLst/>
              <a:gdLst/>
              <a:ahLst/>
              <a:cxnLst/>
              <a:rect r="r" b="b" t="t" l="l"/>
              <a:pathLst>
                <a:path h="1038225" w="10191751">
                  <a:moveTo>
                    <a:pt x="0" y="976249"/>
                  </a:moveTo>
                  <a:lnTo>
                    <a:pt x="0" y="61976"/>
                  </a:ln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175" y="42037"/>
                    <a:pt x="4699" y="38227"/>
                  </a:cubicBezTo>
                  <a:cubicBezTo>
                    <a:pt x="6223" y="34417"/>
                    <a:pt x="8128" y="30861"/>
                    <a:pt x="10414" y="27559"/>
                  </a:cubicBezTo>
                  <a:cubicBezTo>
                    <a:pt x="12700" y="24257"/>
                    <a:pt x="15240" y="21082"/>
                    <a:pt x="18161" y="18161"/>
                  </a:cubicBezTo>
                  <a:cubicBezTo>
                    <a:pt x="21082" y="15240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1905"/>
                    <a:pt x="49911" y="1143"/>
                  </a:cubicBezTo>
                  <a:cubicBezTo>
                    <a:pt x="53975" y="381"/>
                    <a:pt x="57912" y="0"/>
                    <a:pt x="61976" y="0"/>
                  </a:cubicBezTo>
                  <a:lnTo>
                    <a:pt x="10129774" y="0"/>
                  </a:lnTo>
                  <a:cubicBezTo>
                    <a:pt x="10133838" y="0"/>
                    <a:pt x="10137902" y="381"/>
                    <a:pt x="10141839" y="1143"/>
                  </a:cubicBezTo>
                  <a:cubicBezTo>
                    <a:pt x="10145776" y="1905"/>
                    <a:pt x="10149713" y="3048"/>
                    <a:pt x="10153523" y="4699"/>
                  </a:cubicBezTo>
                  <a:cubicBezTo>
                    <a:pt x="10157333" y="6350"/>
                    <a:pt x="10160889" y="8128"/>
                    <a:pt x="10164191" y="10414"/>
                  </a:cubicBezTo>
                  <a:cubicBezTo>
                    <a:pt x="10167493" y="12700"/>
                    <a:pt x="10170668" y="15240"/>
                    <a:pt x="10173589" y="18161"/>
                  </a:cubicBezTo>
                  <a:cubicBezTo>
                    <a:pt x="10176510" y="21082"/>
                    <a:pt x="10179050" y="24130"/>
                    <a:pt x="10181336" y="27559"/>
                  </a:cubicBezTo>
                  <a:cubicBezTo>
                    <a:pt x="10183622" y="30988"/>
                    <a:pt x="10185527" y="34544"/>
                    <a:pt x="10187051" y="38227"/>
                  </a:cubicBezTo>
                  <a:cubicBezTo>
                    <a:pt x="10188575" y="41910"/>
                    <a:pt x="10189718" y="45847"/>
                    <a:pt x="10190607" y="49911"/>
                  </a:cubicBezTo>
                  <a:cubicBezTo>
                    <a:pt x="10191497" y="53975"/>
                    <a:pt x="10191751" y="57912"/>
                    <a:pt x="10191751" y="61976"/>
                  </a:cubicBezTo>
                  <a:lnTo>
                    <a:pt x="10191751" y="976249"/>
                  </a:lnTo>
                  <a:cubicBezTo>
                    <a:pt x="10191751" y="980313"/>
                    <a:pt x="10191369" y="984377"/>
                    <a:pt x="10190607" y="988314"/>
                  </a:cubicBezTo>
                  <a:cubicBezTo>
                    <a:pt x="10189845" y="992251"/>
                    <a:pt x="10188702" y="996188"/>
                    <a:pt x="10187051" y="999998"/>
                  </a:cubicBezTo>
                  <a:cubicBezTo>
                    <a:pt x="10185400" y="1003808"/>
                    <a:pt x="10183622" y="1007364"/>
                    <a:pt x="10181336" y="1010666"/>
                  </a:cubicBezTo>
                  <a:cubicBezTo>
                    <a:pt x="10179050" y="1013968"/>
                    <a:pt x="10176510" y="1017143"/>
                    <a:pt x="10173589" y="1020064"/>
                  </a:cubicBezTo>
                  <a:cubicBezTo>
                    <a:pt x="10170668" y="1022985"/>
                    <a:pt x="10167620" y="1025525"/>
                    <a:pt x="10164191" y="1027811"/>
                  </a:cubicBezTo>
                  <a:cubicBezTo>
                    <a:pt x="10160762" y="1030097"/>
                    <a:pt x="10157206" y="1032002"/>
                    <a:pt x="10153523" y="1033526"/>
                  </a:cubicBezTo>
                  <a:cubicBezTo>
                    <a:pt x="10149839" y="1035050"/>
                    <a:pt x="10145903" y="1036320"/>
                    <a:pt x="10141839" y="1037082"/>
                  </a:cubicBezTo>
                  <a:cubicBezTo>
                    <a:pt x="10137775" y="1037844"/>
                    <a:pt x="10133838" y="1038225"/>
                    <a:pt x="10129774" y="1038225"/>
                  </a:cubicBezTo>
                  <a:lnTo>
                    <a:pt x="61976" y="1038225"/>
                  </a:lnTo>
                  <a:cubicBezTo>
                    <a:pt x="57912" y="1038225"/>
                    <a:pt x="53848" y="1037844"/>
                    <a:pt x="49911" y="1037082"/>
                  </a:cubicBezTo>
                  <a:cubicBezTo>
                    <a:pt x="45974" y="1036320"/>
                    <a:pt x="42037" y="1035050"/>
                    <a:pt x="38227" y="1033526"/>
                  </a:cubicBezTo>
                  <a:cubicBezTo>
                    <a:pt x="34417" y="1032002"/>
                    <a:pt x="30861" y="1030097"/>
                    <a:pt x="27559" y="1027811"/>
                  </a:cubicBezTo>
                  <a:cubicBezTo>
                    <a:pt x="24257" y="1025525"/>
                    <a:pt x="21082" y="1022985"/>
                    <a:pt x="18161" y="1020064"/>
                  </a:cubicBezTo>
                  <a:cubicBezTo>
                    <a:pt x="15240" y="1017143"/>
                    <a:pt x="12700" y="1014095"/>
                    <a:pt x="10414" y="1010666"/>
                  </a:cubicBezTo>
                  <a:cubicBezTo>
                    <a:pt x="8128" y="1007237"/>
                    <a:pt x="6223" y="1003681"/>
                    <a:pt x="4699" y="999998"/>
                  </a:cubicBezTo>
                  <a:cubicBezTo>
                    <a:pt x="3175" y="996315"/>
                    <a:pt x="1905" y="992378"/>
                    <a:pt x="1143" y="988314"/>
                  </a:cubicBezTo>
                  <a:cubicBezTo>
                    <a:pt x="381" y="984250"/>
                    <a:pt x="0" y="980313"/>
                    <a:pt x="0" y="976249"/>
                  </a:cubicBezTo>
                </a:path>
              </a:pathLst>
            </a:custGeom>
            <a:solidFill>
              <a:srgbClr val="DDDAD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77749" y="350774"/>
              <a:ext cx="154940" cy="154940"/>
            </a:xfrm>
            <a:custGeom>
              <a:avLst/>
              <a:gdLst/>
              <a:ahLst/>
              <a:cxnLst/>
              <a:rect r="r" b="b" t="t" l="l"/>
              <a:pathLst>
                <a:path h="154940" w="154940">
                  <a:moveTo>
                    <a:pt x="22098" y="16637"/>
                  </a:moveTo>
                  <a:cubicBezTo>
                    <a:pt x="19050" y="16637"/>
                    <a:pt x="16510" y="19177"/>
                    <a:pt x="16510" y="22225"/>
                  </a:cubicBezTo>
                  <a:lnTo>
                    <a:pt x="16510" y="132969"/>
                  </a:lnTo>
                  <a:cubicBezTo>
                    <a:pt x="16510" y="136017"/>
                    <a:pt x="19050" y="138557"/>
                    <a:pt x="22098" y="138557"/>
                  </a:cubicBezTo>
                  <a:lnTo>
                    <a:pt x="99568" y="138557"/>
                  </a:lnTo>
                  <a:lnTo>
                    <a:pt x="99568" y="110744"/>
                  </a:lnTo>
                  <a:cubicBezTo>
                    <a:pt x="99568" y="104648"/>
                    <a:pt x="104521" y="99695"/>
                    <a:pt x="110617" y="99695"/>
                  </a:cubicBezTo>
                  <a:lnTo>
                    <a:pt x="138303" y="99695"/>
                  </a:lnTo>
                  <a:lnTo>
                    <a:pt x="138303" y="22225"/>
                  </a:lnTo>
                  <a:cubicBezTo>
                    <a:pt x="138303" y="19177"/>
                    <a:pt x="135763" y="16637"/>
                    <a:pt x="132715" y="16637"/>
                  </a:cubicBezTo>
                  <a:lnTo>
                    <a:pt x="22098" y="16637"/>
                  </a:lnTo>
                  <a:close/>
                  <a:moveTo>
                    <a:pt x="99568" y="154940"/>
                  </a:moveTo>
                  <a:lnTo>
                    <a:pt x="22098" y="154940"/>
                  </a:lnTo>
                  <a:cubicBezTo>
                    <a:pt x="9906" y="154940"/>
                    <a:pt x="0" y="145034"/>
                    <a:pt x="0" y="132842"/>
                  </a:cubicBezTo>
                  <a:lnTo>
                    <a:pt x="0" y="22098"/>
                  </a:lnTo>
                  <a:cubicBezTo>
                    <a:pt x="0" y="9906"/>
                    <a:pt x="9906" y="0"/>
                    <a:pt x="22098" y="0"/>
                  </a:cubicBezTo>
                  <a:lnTo>
                    <a:pt x="132842" y="0"/>
                  </a:lnTo>
                  <a:cubicBezTo>
                    <a:pt x="145034" y="0"/>
                    <a:pt x="154940" y="9906"/>
                    <a:pt x="154940" y="22098"/>
                  </a:cubicBezTo>
                  <a:lnTo>
                    <a:pt x="154940" y="99568"/>
                  </a:lnTo>
                  <a:lnTo>
                    <a:pt x="154940" y="101473"/>
                  </a:lnTo>
                  <a:cubicBezTo>
                    <a:pt x="154940" y="107315"/>
                    <a:pt x="152654" y="113030"/>
                    <a:pt x="148463" y="117094"/>
                  </a:cubicBezTo>
                  <a:lnTo>
                    <a:pt x="117221" y="148463"/>
                  </a:lnTo>
                  <a:cubicBezTo>
                    <a:pt x="113030" y="152654"/>
                    <a:pt x="107442" y="154940"/>
                    <a:pt x="101600" y="154940"/>
                  </a:cubicBezTo>
                  <a:lnTo>
                    <a:pt x="99695" y="154940"/>
                  </a:lnTo>
                </a:path>
              </a:pathLst>
            </a:custGeom>
            <a:solidFill>
              <a:srgbClr val="554E44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6937372" y="6038898"/>
            <a:ext cx="3946522" cy="1727197"/>
            <a:chOff x="0" y="0"/>
            <a:chExt cx="3946525" cy="172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3819525" cy="1600200"/>
            </a:xfrm>
            <a:custGeom>
              <a:avLst/>
              <a:gdLst/>
              <a:ahLst/>
              <a:cxnLst/>
              <a:rect r="r" b="b" t="t" l="l"/>
              <a:pathLst>
                <a:path h="1600200" w="3819525">
                  <a:moveTo>
                    <a:pt x="0" y="1538224"/>
                  </a:moveTo>
                  <a:lnTo>
                    <a:pt x="0" y="61976"/>
                  </a:ln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175" y="42037"/>
                    <a:pt x="4699" y="38227"/>
                  </a:cubicBezTo>
                  <a:cubicBezTo>
                    <a:pt x="6223" y="34417"/>
                    <a:pt x="8128" y="30861"/>
                    <a:pt x="10414" y="27432"/>
                  </a:cubicBezTo>
                  <a:cubicBezTo>
                    <a:pt x="12700" y="24003"/>
                    <a:pt x="15240" y="20955"/>
                    <a:pt x="18161" y="18034"/>
                  </a:cubicBezTo>
                  <a:cubicBezTo>
                    <a:pt x="21082" y="15113"/>
                    <a:pt x="24130" y="12573"/>
                    <a:pt x="27559" y="10287"/>
                  </a:cubicBezTo>
                  <a:cubicBezTo>
                    <a:pt x="30988" y="8001"/>
                    <a:pt x="34544" y="6096"/>
                    <a:pt x="38227" y="4572"/>
                  </a:cubicBezTo>
                  <a:cubicBezTo>
                    <a:pt x="41910" y="3048"/>
                    <a:pt x="45847" y="1778"/>
                    <a:pt x="49911" y="1016"/>
                  </a:cubicBezTo>
                  <a:cubicBezTo>
                    <a:pt x="53975" y="254"/>
                    <a:pt x="57912" y="0"/>
                    <a:pt x="61976" y="0"/>
                  </a:cubicBezTo>
                  <a:lnTo>
                    <a:pt x="3757549" y="0"/>
                  </a:lnTo>
                  <a:cubicBezTo>
                    <a:pt x="3761613" y="0"/>
                    <a:pt x="3765677" y="381"/>
                    <a:pt x="3769614" y="1143"/>
                  </a:cubicBezTo>
                  <a:cubicBezTo>
                    <a:pt x="3773551" y="1905"/>
                    <a:pt x="3777488" y="3175"/>
                    <a:pt x="3781298" y="4699"/>
                  </a:cubicBezTo>
                  <a:cubicBezTo>
                    <a:pt x="3785108" y="6223"/>
                    <a:pt x="3788664" y="8128"/>
                    <a:pt x="3791966" y="10414"/>
                  </a:cubicBezTo>
                  <a:cubicBezTo>
                    <a:pt x="3795268" y="12700"/>
                    <a:pt x="3798443" y="15240"/>
                    <a:pt x="3801364" y="18161"/>
                  </a:cubicBezTo>
                  <a:cubicBezTo>
                    <a:pt x="3804285" y="21082"/>
                    <a:pt x="3806825" y="24130"/>
                    <a:pt x="3809111" y="27559"/>
                  </a:cubicBezTo>
                  <a:cubicBezTo>
                    <a:pt x="3811397" y="30988"/>
                    <a:pt x="3813302" y="34544"/>
                    <a:pt x="3814826" y="38354"/>
                  </a:cubicBezTo>
                  <a:cubicBezTo>
                    <a:pt x="3816350" y="42164"/>
                    <a:pt x="3817493" y="45974"/>
                    <a:pt x="3818382" y="50038"/>
                  </a:cubicBezTo>
                  <a:cubicBezTo>
                    <a:pt x="3819271" y="54102"/>
                    <a:pt x="3819525" y="58039"/>
                    <a:pt x="3819525" y="62103"/>
                  </a:cubicBezTo>
                  <a:lnTo>
                    <a:pt x="3819525" y="1538224"/>
                  </a:lnTo>
                  <a:cubicBezTo>
                    <a:pt x="3819525" y="1542288"/>
                    <a:pt x="3819144" y="1546352"/>
                    <a:pt x="3818382" y="1550289"/>
                  </a:cubicBezTo>
                  <a:cubicBezTo>
                    <a:pt x="3817620" y="1554226"/>
                    <a:pt x="3816477" y="1558163"/>
                    <a:pt x="3814826" y="1561973"/>
                  </a:cubicBezTo>
                  <a:cubicBezTo>
                    <a:pt x="3813175" y="1565783"/>
                    <a:pt x="3811397" y="1569339"/>
                    <a:pt x="3809111" y="1572641"/>
                  </a:cubicBezTo>
                  <a:cubicBezTo>
                    <a:pt x="3806825" y="1575943"/>
                    <a:pt x="3804285" y="1579118"/>
                    <a:pt x="3801364" y="1582039"/>
                  </a:cubicBezTo>
                  <a:cubicBezTo>
                    <a:pt x="3798443" y="1584960"/>
                    <a:pt x="3795395" y="1587500"/>
                    <a:pt x="3791966" y="1589786"/>
                  </a:cubicBezTo>
                  <a:cubicBezTo>
                    <a:pt x="3788537" y="1592072"/>
                    <a:pt x="3784981" y="1593977"/>
                    <a:pt x="3781298" y="1595501"/>
                  </a:cubicBezTo>
                  <a:cubicBezTo>
                    <a:pt x="3777615" y="1597025"/>
                    <a:pt x="3773678" y="1598295"/>
                    <a:pt x="3769614" y="1599057"/>
                  </a:cubicBezTo>
                  <a:cubicBezTo>
                    <a:pt x="3765550" y="1599819"/>
                    <a:pt x="3761613" y="1600200"/>
                    <a:pt x="3757549" y="1600200"/>
                  </a:cubicBezTo>
                  <a:lnTo>
                    <a:pt x="61976" y="1600200"/>
                  </a:lnTo>
                  <a:cubicBezTo>
                    <a:pt x="57912" y="1600200"/>
                    <a:pt x="53848" y="1599819"/>
                    <a:pt x="49911" y="1599057"/>
                  </a:cubicBezTo>
                  <a:cubicBezTo>
                    <a:pt x="45974" y="1598295"/>
                    <a:pt x="42037" y="1597152"/>
                    <a:pt x="38227" y="1595501"/>
                  </a:cubicBezTo>
                  <a:cubicBezTo>
                    <a:pt x="34417" y="1593850"/>
                    <a:pt x="30861" y="1592072"/>
                    <a:pt x="27559" y="1589786"/>
                  </a:cubicBezTo>
                  <a:cubicBezTo>
                    <a:pt x="24257" y="1587500"/>
                    <a:pt x="21082" y="1584960"/>
                    <a:pt x="18161" y="1582039"/>
                  </a:cubicBezTo>
                  <a:cubicBezTo>
                    <a:pt x="15240" y="1579118"/>
                    <a:pt x="12700" y="1576070"/>
                    <a:pt x="10414" y="1572641"/>
                  </a:cubicBezTo>
                  <a:cubicBezTo>
                    <a:pt x="8128" y="1569212"/>
                    <a:pt x="6223" y="1565656"/>
                    <a:pt x="4699" y="1561973"/>
                  </a:cubicBezTo>
                  <a:cubicBezTo>
                    <a:pt x="3175" y="1558290"/>
                    <a:pt x="1905" y="1554353"/>
                    <a:pt x="1143" y="1550289"/>
                  </a:cubicBezTo>
                  <a:cubicBezTo>
                    <a:pt x="381" y="1546225"/>
                    <a:pt x="0" y="1542288"/>
                    <a:pt x="0" y="1538224"/>
                  </a:cubicBezTo>
                </a:path>
              </a:pathLst>
            </a:custGeom>
            <a:solidFill>
              <a:srgbClr val="DDDAD4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7749" y="350901"/>
              <a:ext cx="154940" cy="154940"/>
            </a:xfrm>
            <a:custGeom>
              <a:avLst/>
              <a:gdLst/>
              <a:ahLst/>
              <a:cxnLst/>
              <a:rect r="r" b="b" t="t" l="l"/>
              <a:pathLst>
                <a:path h="154940" w="154940">
                  <a:moveTo>
                    <a:pt x="22098" y="16510"/>
                  </a:moveTo>
                  <a:cubicBezTo>
                    <a:pt x="19050" y="16510"/>
                    <a:pt x="16510" y="19050"/>
                    <a:pt x="16510" y="22098"/>
                  </a:cubicBezTo>
                  <a:lnTo>
                    <a:pt x="16510" y="132842"/>
                  </a:lnTo>
                  <a:cubicBezTo>
                    <a:pt x="16510" y="135890"/>
                    <a:pt x="19050" y="138430"/>
                    <a:pt x="22098" y="138430"/>
                  </a:cubicBezTo>
                  <a:lnTo>
                    <a:pt x="99568" y="138430"/>
                  </a:lnTo>
                  <a:lnTo>
                    <a:pt x="99568" y="110617"/>
                  </a:lnTo>
                  <a:cubicBezTo>
                    <a:pt x="99568" y="104521"/>
                    <a:pt x="104521" y="99568"/>
                    <a:pt x="110617" y="99568"/>
                  </a:cubicBezTo>
                  <a:lnTo>
                    <a:pt x="138303" y="99568"/>
                  </a:lnTo>
                  <a:lnTo>
                    <a:pt x="138303" y="22098"/>
                  </a:lnTo>
                  <a:cubicBezTo>
                    <a:pt x="138303" y="19050"/>
                    <a:pt x="135763" y="16510"/>
                    <a:pt x="132715" y="16510"/>
                  </a:cubicBezTo>
                  <a:lnTo>
                    <a:pt x="22098" y="16510"/>
                  </a:lnTo>
                  <a:close/>
                  <a:moveTo>
                    <a:pt x="99568" y="154940"/>
                  </a:moveTo>
                  <a:lnTo>
                    <a:pt x="22098" y="154940"/>
                  </a:lnTo>
                  <a:cubicBezTo>
                    <a:pt x="9906" y="154940"/>
                    <a:pt x="0" y="145034"/>
                    <a:pt x="0" y="132842"/>
                  </a:cubicBezTo>
                  <a:lnTo>
                    <a:pt x="0" y="22098"/>
                  </a:lnTo>
                  <a:cubicBezTo>
                    <a:pt x="0" y="9906"/>
                    <a:pt x="9906" y="0"/>
                    <a:pt x="22098" y="0"/>
                  </a:cubicBezTo>
                  <a:lnTo>
                    <a:pt x="132842" y="0"/>
                  </a:lnTo>
                  <a:cubicBezTo>
                    <a:pt x="145034" y="0"/>
                    <a:pt x="154940" y="9906"/>
                    <a:pt x="154940" y="22098"/>
                  </a:cubicBezTo>
                  <a:lnTo>
                    <a:pt x="154940" y="99568"/>
                  </a:lnTo>
                  <a:lnTo>
                    <a:pt x="154940" y="101473"/>
                  </a:lnTo>
                  <a:cubicBezTo>
                    <a:pt x="154940" y="107315"/>
                    <a:pt x="152654" y="113030"/>
                    <a:pt x="148463" y="117094"/>
                  </a:cubicBezTo>
                  <a:lnTo>
                    <a:pt x="117221" y="148336"/>
                  </a:lnTo>
                  <a:cubicBezTo>
                    <a:pt x="113030" y="152527"/>
                    <a:pt x="107442" y="154813"/>
                    <a:pt x="101600" y="154813"/>
                  </a:cubicBezTo>
                  <a:lnTo>
                    <a:pt x="99695" y="154813"/>
                  </a:lnTo>
                </a:path>
              </a:pathLst>
            </a:custGeom>
            <a:solidFill>
              <a:srgbClr val="554E4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20163" y="1049626"/>
            <a:ext cx="3451098" cy="6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3"/>
              </a:lnSpc>
            </a:pPr>
            <a:r>
              <a:rPr lang="en-US" sz="3488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Contexto Clínico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0173" y="5673909"/>
            <a:ext cx="5692912" cy="113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Em ensaios clínicos multicêntricos, as amostras de sangue são transportadas para laboratórios centrais, resultando num </a:t>
            </a: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atraso significativo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entre a colheita e o processamento, frequentemente g20 horas.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0163" y="2559234"/>
            <a:ext cx="6017762" cy="242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Este estudo investiga pacientes com </a:t>
            </a: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cancro da mama HER2-positivo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incluídos no ensaio clínico NeoOn. O sucesso da terapia com anticorpos monoclonais como o Ontruzant depende crucialmente de mecanismos imunológicos mediados pelas </a:t>
            </a: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Células Mononucleares do Sangue Periférico (PBMCs)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.</a:t>
            </a:r>
          </a:p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Estes mecanismos incluem a </a:t>
            </a: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Citotoxicidade Celular Dependente de </a:t>
            </a:r>
          </a:p>
          <a:p>
            <a:pPr algn="l">
              <a:lnSpc>
                <a:spcPts val="1012"/>
              </a:lnSpc>
            </a:pP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Anticorpos (ADCC)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e a </a:t>
            </a: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Fagocitose Celular Dependente de </a:t>
            </a:r>
          </a:p>
          <a:p>
            <a:pPr algn="l">
              <a:lnSpc>
                <a:spcPts val="3336"/>
              </a:lnSpc>
            </a:pP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Anticorpos (ADCP)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, essenciais para eliminar células tumorais.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5835" y="8312334"/>
            <a:ext cx="8761638" cy="56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394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Questão Central:</a:t>
            </a: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Este atraso no processamento compromete a viabilidade celular e a funcionalidade imunológica das PBMCs para ensaios subsequentes?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78471" y="6312084"/>
            <a:ext cx="3055449" cy="112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2"/>
              </a:lnSpc>
            </a:pP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A </a:t>
            </a:r>
            <a:r>
              <a:rPr lang="en-US" b="true" sz="1394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qualidade das PBMCs</a:t>
            </a: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é um biomarcador crucial para avaliar a resposta imunitária à terapia anticorpo-mediada.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1415996"/>
            <a:ext cx="11556997" cy="7375522"/>
            <a:chOff x="0" y="0"/>
            <a:chExt cx="11557000" cy="73755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7248525"/>
            </a:xfrm>
            <a:custGeom>
              <a:avLst/>
              <a:gdLst/>
              <a:ahLst/>
              <a:cxnLst/>
              <a:rect r="r" b="b" t="t" l="l"/>
              <a:pathLst>
                <a:path h="7248525" w="11430000">
                  <a:moveTo>
                    <a:pt x="0" y="0"/>
                  </a:moveTo>
                  <a:lnTo>
                    <a:pt x="0" y="7248525"/>
                  </a:lnTo>
                  <a:lnTo>
                    <a:pt x="11430000" y="72485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7248525"/>
            </a:xfrm>
            <a:custGeom>
              <a:avLst/>
              <a:gdLst/>
              <a:ahLst/>
              <a:cxnLst/>
              <a:rect r="r" b="b" t="t" l="l"/>
              <a:pathLst>
                <a:path h="7248525" w="11430000">
                  <a:moveTo>
                    <a:pt x="0" y="0"/>
                  </a:moveTo>
                  <a:lnTo>
                    <a:pt x="0" y="7248525"/>
                  </a:lnTo>
                  <a:lnTo>
                    <a:pt x="11430000" y="72485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7248525"/>
            </a:xfrm>
            <a:custGeom>
              <a:avLst/>
              <a:gdLst/>
              <a:ahLst/>
              <a:cxnLst/>
              <a:rect r="r" b="b" t="t" l="l"/>
              <a:pathLst>
                <a:path h="7248525" w="11430000">
                  <a:moveTo>
                    <a:pt x="0" y="0"/>
                  </a:moveTo>
                  <a:lnTo>
                    <a:pt x="0" y="7248525"/>
                  </a:lnTo>
                  <a:lnTo>
                    <a:pt x="11430000" y="72485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E6DED2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1430000" cy="7248525"/>
            </a:xfrm>
            <a:custGeom>
              <a:avLst/>
              <a:gdLst/>
              <a:ahLst/>
              <a:cxnLst/>
              <a:rect r="r" b="b" t="t" l="l"/>
              <a:pathLst>
                <a:path h="7248525" w="11430000">
                  <a:moveTo>
                    <a:pt x="0" y="0"/>
                  </a:moveTo>
                  <a:lnTo>
                    <a:pt x="0" y="7248525"/>
                  </a:lnTo>
                  <a:lnTo>
                    <a:pt x="11430000" y="72485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E6DED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1430000" cy="7248525"/>
            </a:xfrm>
            <a:custGeom>
              <a:avLst/>
              <a:gdLst/>
              <a:ahLst/>
              <a:cxnLst/>
              <a:rect r="r" b="b" t="t" l="l"/>
              <a:pathLst>
                <a:path h="7248525" w="11430000">
                  <a:moveTo>
                    <a:pt x="0" y="0"/>
                  </a:moveTo>
                  <a:lnTo>
                    <a:pt x="0" y="7248525"/>
                  </a:lnTo>
                  <a:lnTo>
                    <a:pt x="11430000" y="72485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1479499"/>
            <a:ext cx="11430000" cy="2219325"/>
          </a:xfrm>
          <a:custGeom>
            <a:avLst/>
            <a:gdLst/>
            <a:ahLst/>
            <a:cxnLst/>
            <a:rect r="r" b="b" t="t" l="l"/>
            <a:pathLst>
              <a:path h="2219325" w="11430000">
                <a:moveTo>
                  <a:pt x="0" y="0"/>
                </a:moveTo>
                <a:lnTo>
                  <a:pt x="11430000" y="0"/>
                </a:lnTo>
                <a:lnTo>
                  <a:pt x="11430000" y="2219325"/>
                </a:lnTo>
                <a:lnTo>
                  <a:pt x="0" y="2219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" r="0" b="-10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55622" y="5702246"/>
            <a:ext cx="3420208" cy="2620108"/>
          </a:xfrm>
          <a:custGeom>
            <a:avLst/>
            <a:gdLst/>
            <a:ahLst/>
            <a:cxnLst/>
            <a:rect r="r" b="b" t="t" l="l"/>
            <a:pathLst>
              <a:path h="2620108" w="3420208">
                <a:moveTo>
                  <a:pt x="0" y="0"/>
                </a:moveTo>
                <a:lnTo>
                  <a:pt x="3420208" y="0"/>
                </a:lnTo>
                <a:lnTo>
                  <a:pt x="3420208" y="2620108"/>
                </a:lnTo>
                <a:lnTo>
                  <a:pt x="0" y="26201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13197" y="5702246"/>
            <a:ext cx="3420208" cy="2620108"/>
          </a:xfrm>
          <a:custGeom>
            <a:avLst/>
            <a:gdLst/>
            <a:ahLst/>
            <a:cxnLst/>
            <a:rect r="r" b="b" t="t" l="l"/>
            <a:pathLst>
              <a:path h="2620108" w="3420208">
                <a:moveTo>
                  <a:pt x="0" y="0"/>
                </a:moveTo>
                <a:lnTo>
                  <a:pt x="3420208" y="0"/>
                </a:lnTo>
                <a:lnTo>
                  <a:pt x="3420208" y="2620108"/>
                </a:lnTo>
                <a:lnTo>
                  <a:pt x="0" y="26201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470772" y="5702246"/>
            <a:ext cx="3420208" cy="2620108"/>
          </a:xfrm>
          <a:custGeom>
            <a:avLst/>
            <a:gdLst/>
            <a:ahLst/>
            <a:cxnLst/>
            <a:rect r="r" b="b" t="t" l="l"/>
            <a:pathLst>
              <a:path h="2620108" w="3420208">
                <a:moveTo>
                  <a:pt x="0" y="0"/>
                </a:moveTo>
                <a:lnTo>
                  <a:pt x="3420208" y="0"/>
                </a:lnTo>
                <a:lnTo>
                  <a:pt x="3420208" y="2620108"/>
                </a:lnTo>
                <a:lnTo>
                  <a:pt x="0" y="26201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20163" y="4465825"/>
            <a:ext cx="4177541" cy="311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4"/>
              </a:lnSpc>
            </a:pPr>
            <a:r>
              <a:rPr lang="en-US" sz="3488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Objetivos do Estudo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0195" y="4880058"/>
            <a:ext cx="46987" cy="39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81073" y="5887355"/>
            <a:ext cx="58731" cy="36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sz="1743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6321" y="6261183"/>
            <a:ext cx="2676249" cy="1486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0"/>
              </a:lnSpc>
            </a:pP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Avaliar o impacto do tempo de </a:t>
            </a:r>
          </a:p>
          <a:p>
            <a:pPr algn="l">
              <a:lnSpc>
                <a:spcPts val="1478"/>
              </a:lnSpc>
            </a:pP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espera (f6h vs. g20h) no </a:t>
            </a:r>
          </a:p>
          <a:p>
            <a:pPr algn="l">
              <a:lnSpc>
                <a:spcPts val="3020"/>
              </a:lnSpc>
            </a:pPr>
            <a:r>
              <a:rPr lang="en-US" b="true" sz="1394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rendimento celular</a:t>
            </a: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e na </a:t>
            </a:r>
          </a:p>
          <a:p>
            <a:pPr algn="l">
              <a:lnSpc>
                <a:spcPts val="1329"/>
              </a:lnSpc>
            </a:pPr>
            <a:r>
              <a:rPr lang="en-US" b="true" sz="1394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viabilidade</a:t>
            </a: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das PBMCs após </a:t>
            </a:r>
          </a:p>
          <a:p>
            <a:pPr algn="l">
              <a:lnSpc>
                <a:spcPts val="3170"/>
              </a:lnSpc>
            </a:pP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isolamento e criopreservação.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71810" y="6613608"/>
            <a:ext cx="2587123" cy="1410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Determinar como o tempo de espera influencia a </a:t>
            </a:r>
            <a:r>
              <a:rPr lang="en-US" b="true" sz="1394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Citotoxicidade (ADCC)</a:t>
            </a: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e a </a:t>
            </a:r>
            <a:r>
              <a:rPr lang="en-US" b="true" sz="1394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Fagocitose (ADCP)</a:t>
            </a: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mediadas pelo anticorpo Ontruzant.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0163" y="4994358"/>
            <a:ext cx="8852535" cy="27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O objetivocentralfoiavaliarsistematicamenteos efeitos do </a:t>
            </a: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tempo de espera prolongado do sangue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(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0163" y="5280108"/>
            <a:ext cx="8102260" cy="27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na viabilidadeefuncionalidadedasPBMCs,com particular destaque na capacidade citotóxica.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10521" y="5887355"/>
            <a:ext cx="58731" cy="36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sz="1743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27452" y="6261183"/>
            <a:ext cx="2571188" cy="1486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0"/>
              </a:lnSpc>
            </a:pP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Caracterizar alterações na </a:t>
            </a:r>
          </a:p>
          <a:p>
            <a:pPr algn="l">
              <a:lnSpc>
                <a:spcPts val="1478"/>
              </a:lnSpc>
            </a:pPr>
            <a:r>
              <a:rPr lang="en-US" b="true" sz="1394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viabilidade</a:t>
            </a: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e taxas de </a:t>
            </a:r>
          </a:p>
          <a:p>
            <a:pPr algn="l">
              <a:lnSpc>
                <a:spcPts val="3020"/>
              </a:lnSpc>
            </a:pPr>
            <a:r>
              <a:rPr lang="en-US" b="true" sz="1394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apoptose/necrose</a:t>
            </a: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em </a:t>
            </a:r>
          </a:p>
          <a:p>
            <a:pPr algn="l">
              <a:lnSpc>
                <a:spcPts val="1329"/>
              </a:lnSpc>
            </a:pP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subpopulações imunes-chave </a:t>
            </a:r>
          </a:p>
          <a:p>
            <a:pPr algn="l">
              <a:lnSpc>
                <a:spcPts val="3170"/>
              </a:lnSpc>
            </a:pP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(Células NK e Células T).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82046" y="5023256"/>
            <a:ext cx="1482061" cy="2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3"/>
              </a:lnSpc>
            </a:pPr>
            <a:r>
              <a:rPr lang="en-US" sz="1437" i="true">
                <a:solidFill>
                  <a:srgbClr val="4C4C4C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blood hold time</a:t>
            </a:r>
            <a:r>
              <a:rPr lang="en-US" sz="1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)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6321" y="5954030"/>
            <a:ext cx="2611222" cy="30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3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Qualidade</a:t>
            </a:r>
            <a:r>
              <a:rPr lang="en-US" sz="1743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1743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e</a:t>
            </a:r>
            <a:r>
              <a:rPr lang="en-US" sz="1743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1743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Rendimento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71810" y="5982605"/>
            <a:ext cx="1701717" cy="55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743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Funcionalidade Imunológica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27452" y="5954030"/>
            <a:ext cx="1620945" cy="30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3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Destino</a:t>
            </a:r>
            <a:r>
              <a:rPr lang="en-US" sz="1743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1743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Celular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-63351"/>
            <a:ext cx="11556997" cy="10337797"/>
            <a:chOff x="0" y="0"/>
            <a:chExt cx="11557000" cy="1033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01802" y="3025775"/>
              <a:ext cx="66548" cy="66675"/>
            </a:xfrm>
            <a:custGeom>
              <a:avLst/>
              <a:gdLst/>
              <a:ahLst/>
              <a:cxnLst/>
              <a:rect r="r" b="b" t="t" l="l"/>
              <a:pathLst>
                <a:path h="66675" w="66548">
                  <a:moveTo>
                    <a:pt x="66548" y="33401"/>
                  </a:moveTo>
                  <a:cubicBezTo>
                    <a:pt x="66548" y="37846"/>
                    <a:pt x="65659" y="42037"/>
                    <a:pt x="64008" y="46101"/>
                  </a:cubicBezTo>
                  <a:cubicBezTo>
                    <a:pt x="62357" y="50165"/>
                    <a:pt x="59944" y="53848"/>
                    <a:pt x="56769" y="56896"/>
                  </a:cubicBezTo>
                  <a:cubicBezTo>
                    <a:pt x="53594" y="59944"/>
                    <a:pt x="50038" y="62484"/>
                    <a:pt x="45974" y="64135"/>
                  </a:cubicBezTo>
                  <a:cubicBezTo>
                    <a:pt x="41910" y="65786"/>
                    <a:pt x="37592" y="66675"/>
                    <a:pt x="33274" y="66675"/>
                  </a:cubicBezTo>
                  <a:cubicBezTo>
                    <a:pt x="28956" y="66675"/>
                    <a:pt x="24638" y="65786"/>
                    <a:pt x="20574" y="64135"/>
                  </a:cubicBezTo>
                  <a:cubicBezTo>
                    <a:pt x="16510" y="62484"/>
                    <a:pt x="12827" y="60071"/>
                    <a:pt x="9779" y="56896"/>
                  </a:cubicBezTo>
                  <a:cubicBezTo>
                    <a:pt x="6731" y="53721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574"/>
                  </a:cubicBezTo>
                  <a:cubicBezTo>
                    <a:pt x="4191" y="16383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401"/>
                  </a:cubicBezTo>
                </a:path>
              </a:pathLst>
            </a:custGeom>
            <a:solidFill>
              <a:srgbClr val="4C4C4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701802" y="3654425"/>
              <a:ext cx="66548" cy="66676"/>
            </a:xfrm>
            <a:custGeom>
              <a:avLst/>
              <a:gdLst/>
              <a:ahLst/>
              <a:cxnLst/>
              <a:rect r="r" b="b" t="t" l="l"/>
              <a:pathLst>
                <a:path h="66676" w="66548">
                  <a:moveTo>
                    <a:pt x="66548" y="33401"/>
                  </a:moveTo>
                  <a:cubicBezTo>
                    <a:pt x="66548" y="37846"/>
                    <a:pt x="65659" y="42037"/>
                    <a:pt x="64008" y="46101"/>
                  </a:cubicBezTo>
                  <a:cubicBezTo>
                    <a:pt x="62357" y="50165"/>
                    <a:pt x="59944" y="53848"/>
                    <a:pt x="56769" y="56896"/>
                  </a:cubicBezTo>
                  <a:cubicBezTo>
                    <a:pt x="53594" y="59944"/>
                    <a:pt x="50038" y="62484"/>
                    <a:pt x="45974" y="64135"/>
                  </a:cubicBezTo>
                  <a:cubicBezTo>
                    <a:pt x="41910" y="65786"/>
                    <a:pt x="37592" y="66675"/>
                    <a:pt x="33274" y="66675"/>
                  </a:cubicBezTo>
                  <a:cubicBezTo>
                    <a:pt x="28956" y="66675"/>
                    <a:pt x="24638" y="65786"/>
                    <a:pt x="20574" y="64135"/>
                  </a:cubicBezTo>
                  <a:cubicBezTo>
                    <a:pt x="16510" y="62484"/>
                    <a:pt x="12827" y="60071"/>
                    <a:pt x="9779" y="56896"/>
                  </a:cubicBezTo>
                  <a:cubicBezTo>
                    <a:pt x="6731" y="53721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574"/>
                  </a:cubicBezTo>
                  <a:cubicBezTo>
                    <a:pt x="4191" y="16383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401"/>
                  </a:cubicBezTo>
                </a:path>
              </a:pathLst>
            </a:custGeom>
            <a:solidFill>
              <a:srgbClr val="4C4C4C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01802" y="3997452"/>
              <a:ext cx="66548" cy="66549"/>
            </a:xfrm>
            <a:custGeom>
              <a:avLst/>
              <a:gdLst/>
              <a:ahLst/>
              <a:cxnLst/>
              <a:rect r="r" b="b" t="t" l="l"/>
              <a:pathLst>
                <a:path h="66549" w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</a:path>
              </a:pathLst>
            </a:custGeom>
            <a:solidFill>
              <a:srgbClr val="4C4C4C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01802" y="4635500"/>
              <a:ext cx="66548" cy="66549"/>
            </a:xfrm>
            <a:custGeom>
              <a:avLst/>
              <a:gdLst/>
              <a:ahLst/>
              <a:cxnLst/>
              <a:rect r="r" b="b" t="t" l="l"/>
              <a:pathLst>
                <a:path h="66549" w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</a:path>
              </a:pathLst>
            </a:custGeom>
            <a:solidFill>
              <a:srgbClr val="4C4C4C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5410200" y="2362352"/>
            <a:ext cx="5410200" cy="5410200"/>
            <a:chOff x="0" y="0"/>
            <a:chExt cx="7213600" cy="7213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13599" cy="7213599"/>
            </a:xfrm>
            <a:custGeom>
              <a:avLst/>
              <a:gdLst/>
              <a:ahLst/>
              <a:cxnLst/>
              <a:rect r="r" b="b" t="t" l="l"/>
              <a:pathLst>
                <a:path h="7213599" w="7213599">
                  <a:moveTo>
                    <a:pt x="82677" y="0"/>
                  </a:moveTo>
                  <a:cubicBezTo>
                    <a:pt x="71755" y="0"/>
                    <a:pt x="61214" y="2159"/>
                    <a:pt x="51054" y="6223"/>
                  </a:cubicBezTo>
                  <a:cubicBezTo>
                    <a:pt x="40894" y="10287"/>
                    <a:pt x="32004" y="16383"/>
                    <a:pt x="24257" y="24130"/>
                  </a:cubicBezTo>
                  <a:cubicBezTo>
                    <a:pt x="16510" y="31877"/>
                    <a:pt x="10541" y="40894"/>
                    <a:pt x="6350" y="51054"/>
                  </a:cubicBezTo>
                  <a:cubicBezTo>
                    <a:pt x="2159" y="61214"/>
                    <a:pt x="0" y="71755"/>
                    <a:pt x="0" y="82677"/>
                  </a:cubicBezTo>
                  <a:lnTo>
                    <a:pt x="0" y="7130923"/>
                  </a:lnTo>
                  <a:cubicBezTo>
                    <a:pt x="0" y="7141845"/>
                    <a:pt x="2159" y="7152386"/>
                    <a:pt x="6350" y="7162546"/>
                  </a:cubicBezTo>
                  <a:cubicBezTo>
                    <a:pt x="10541" y="7172706"/>
                    <a:pt x="16510" y="7181596"/>
                    <a:pt x="24257" y="7189343"/>
                  </a:cubicBezTo>
                  <a:cubicBezTo>
                    <a:pt x="32004" y="7197089"/>
                    <a:pt x="40894" y="7203059"/>
                    <a:pt x="51054" y="7207249"/>
                  </a:cubicBezTo>
                  <a:cubicBezTo>
                    <a:pt x="61214" y="7211440"/>
                    <a:pt x="71755" y="7213599"/>
                    <a:pt x="82677" y="7213599"/>
                  </a:cubicBezTo>
                  <a:lnTo>
                    <a:pt x="7130923" y="7213599"/>
                  </a:lnTo>
                  <a:cubicBezTo>
                    <a:pt x="7141845" y="7213599"/>
                    <a:pt x="7152386" y="7211440"/>
                    <a:pt x="7162546" y="7207249"/>
                  </a:cubicBezTo>
                  <a:cubicBezTo>
                    <a:pt x="7172706" y="7203058"/>
                    <a:pt x="7181596" y="7197089"/>
                    <a:pt x="7189343" y="7189343"/>
                  </a:cubicBezTo>
                  <a:cubicBezTo>
                    <a:pt x="7197089" y="7181596"/>
                    <a:pt x="7203059" y="7172578"/>
                    <a:pt x="7207249" y="7162546"/>
                  </a:cubicBezTo>
                  <a:cubicBezTo>
                    <a:pt x="7211440" y="7152513"/>
                    <a:pt x="7213599" y="7141845"/>
                    <a:pt x="7213599" y="7130923"/>
                  </a:cubicBezTo>
                  <a:lnTo>
                    <a:pt x="7213599" y="82677"/>
                  </a:lnTo>
                  <a:cubicBezTo>
                    <a:pt x="7213599" y="71755"/>
                    <a:pt x="7211440" y="61214"/>
                    <a:pt x="7207249" y="51054"/>
                  </a:cubicBezTo>
                  <a:cubicBezTo>
                    <a:pt x="7203058" y="40894"/>
                    <a:pt x="7197089" y="32004"/>
                    <a:pt x="7189343" y="24257"/>
                  </a:cubicBezTo>
                  <a:cubicBezTo>
                    <a:pt x="7181596" y="16510"/>
                    <a:pt x="7172706" y="10541"/>
                    <a:pt x="7162546" y="6223"/>
                  </a:cubicBezTo>
                  <a:cubicBezTo>
                    <a:pt x="7152385" y="1905"/>
                    <a:pt x="7141845" y="0"/>
                    <a:pt x="713092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555622" y="8191500"/>
            <a:ext cx="10318747" cy="165097"/>
            <a:chOff x="0" y="0"/>
            <a:chExt cx="10318750" cy="165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10191750" cy="38100"/>
            </a:xfrm>
            <a:custGeom>
              <a:avLst/>
              <a:gdLst/>
              <a:ahLst/>
              <a:cxnLst/>
              <a:rect r="r" b="b" t="t" l="l"/>
              <a:pathLst>
                <a:path h="38100" w="10191750">
                  <a:moveTo>
                    <a:pt x="0" y="38100"/>
                  </a:moveTo>
                  <a:lnTo>
                    <a:pt x="10191750" y="38100"/>
                  </a:lnTo>
                  <a:lnTo>
                    <a:pt x="101917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4C4C">
                <a:alpha val="25098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92075"/>
              <a:ext cx="10191750" cy="9525"/>
            </a:xfrm>
            <a:custGeom>
              <a:avLst/>
              <a:gdLst/>
              <a:ahLst/>
              <a:cxnLst/>
              <a:rect r="r" b="b" t="t" l="l"/>
              <a:pathLst>
                <a:path h="9525" w="10191750">
                  <a:moveTo>
                    <a:pt x="0" y="9525"/>
                  </a:moveTo>
                  <a:lnTo>
                    <a:pt x="10191750" y="9525"/>
                  </a:lnTo>
                  <a:lnTo>
                    <a:pt x="101917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ED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20163" y="767153"/>
            <a:ext cx="5051698" cy="311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4"/>
              </a:lnSpc>
            </a:pPr>
            <a:r>
              <a:rPr lang="en-US" sz="3488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Estratégia Metodológica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5026" y="1276636"/>
            <a:ext cx="46987" cy="39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3532" y="2838736"/>
            <a:ext cx="4156643" cy="216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População: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49 pacientes com cancro da mama HER2-positivo</a:t>
            </a:r>
          </a:p>
          <a:p>
            <a:pPr algn="l">
              <a:lnSpc>
                <a:spcPts val="3149"/>
              </a:lnSpc>
            </a:pP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Tipo de amostra: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Sangue EDTA</a:t>
            </a:r>
          </a:p>
          <a:p>
            <a:pPr algn="l">
              <a:lnSpc>
                <a:spcPts val="2250"/>
              </a:lnSpc>
            </a:pP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Variável temporal: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Amostras emparelhadas do mesmo paciente isoladas em f6h e g20h</a:t>
            </a:r>
          </a:p>
          <a:p>
            <a:pPr algn="l">
              <a:lnSpc>
                <a:spcPts val="3300"/>
              </a:lnSpc>
            </a:pP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Método de isolamento: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Centrifugação de </a:t>
            </a:r>
          </a:p>
          <a:p>
            <a:pPr algn="l">
              <a:lnSpc>
                <a:spcPts val="105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gradiente de densidade (Pancoll-Paque).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0163" y="9144286"/>
            <a:ext cx="9426540" cy="56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As PBMCs foram criopreservadas para permitir a realização de todos os ensaios </a:t>
            </a: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em paralelo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, minimizando a variabilidade experimental e simulando as condições reais de um </a:t>
            </a: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biobanco centralizado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0163" y="1400461"/>
            <a:ext cx="9839373" cy="26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Aabordagem experimental foidesenhadaparaisolarrigorosamente o efeito da variável temporal através de uma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0182" y="1676686"/>
            <a:ext cx="3146146" cy="26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comparação emparelhada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robusta.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0163" y="2329205"/>
            <a:ext cx="2409482" cy="36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092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Desenho do Estudo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0163" y="8539505"/>
            <a:ext cx="3231861" cy="36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092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Papel da Criopreservação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120795"/>
            <a:ext cx="11556997" cy="9966322"/>
            <a:chOff x="0" y="0"/>
            <a:chExt cx="11557000" cy="9966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9839325"/>
            </a:xfrm>
            <a:custGeom>
              <a:avLst/>
              <a:gdLst/>
              <a:ahLst/>
              <a:cxnLst/>
              <a:rect r="r" b="b" t="t" l="l"/>
              <a:pathLst>
                <a:path h="9839325" w="11430000">
                  <a:moveTo>
                    <a:pt x="0" y="0"/>
                  </a:moveTo>
                  <a:lnTo>
                    <a:pt x="0" y="9839325"/>
                  </a:lnTo>
                  <a:lnTo>
                    <a:pt x="11430000" y="98393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9839325"/>
            </a:xfrm>
            <a:custGeom>
              <a:avLst/>
              <a:gdLst/>
              <a:ahLst/>
              <a:cxnLst/>
              <a:rect r="r" b="b" t="t" l="l"/>
              <a:pathLst>
                <a:path h="9839325" w="11430000">
                  <a:moveTo>
                    <a:pt x="0" y="0"/>
                  </a:moveTo>
                  <a:lnTo>
                    <a:pt x="0" y="9839325"/>
                  </a:lnTo>
                  <a:lnTo>
                    <a:pt x="11430000" y="98393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9839325"/>
            </a:xfrm>
            <a:custGeom>
              <a:avLst/>
              <a:gdLst/>
              <a:ahLst/>
              <a:cxnLst/>
              <a:rect r="r" b="b" t="t" l="l"/>
              <a:pathLst>
                <a:path h="9839325" w="11430000">
                  <a:moveTo>
                    <a:pt x="0" y="0"/>
                  </a:moveTo>
                  <a:lnTo>
                    <a:pt x="0" y="9839325"/>
                  </a:lnTo>
                  <a:lnTo>
                    <a:pt x="11430000" y="98393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E6DED2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1430000" cy="9839325"/>
            </a:xfrm>
            <a:custGeom>
              <a:avLst/>
              <a:gdLst/>
              <a:ahLst/>
              <a:cxnLst/>
              <a:rect r="r" b="b" t="t" l="l"/>
              <a:pathLst>
                <a:path h="9839325" w="11430000">
                  <a:moveTo>
                    <a:pt x="0" y="0"/>
                  </a:moveTo>
                  <a:lnTo>
                    <a:pt x="0" y="9839325"/>
                  </a:lnTo>
                  <a:lnTo>
                    <a:pt x="11430000" y="98393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E6DED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1430000" cy="9839325"/>
            </a:xfrm>
            <a:custGeom>
              <a:avLst/>
              <a:gdLst/>
              <a:ahLst/>
              <a:cxnLst/>
              <a:rect r="r" b="b" t="t" l="l"/>
              <a:pathLst>
                <a:path h="9839325" w="11430000">
                  <a:moveTo>
                    <a:pt x="0" y="0"/>
                  </a:moveTo>
                  <a:lnTo>
                    <a:pt x="0" y="9839325"/>
                  </a:lnTo>
                  <a:lnTo>
                    <a:pt x="11430000" y="98393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11430000" cy="0"/>
            </a:xfrm>
            <a:custGeom>
              <a:avLst/>
              <a:gdLst/>
              <a:ahLst/>
              <a:cxnLst/>
              <a:rect r="r" b="b" t="t" l="l"/>
              <a:pathLst>
                <a:path h="0" w="11430000">
                  <a:moveTo>
                    <a:pt x="0" y="0"/>
                  </a:moveTo>
                  <a:lnTo>
                    <a:pt x="0" y="0"/>
                  </a:lnTo>
                  <a:lnTo>
                    <a:pt x="11430000" y="0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184298"/>
            <a:ext cx="11430000" cy="2219325"/>
          </a:xfrm>
          <a:custGeom>
            <a:avLst/>
            <a:gdLst/>
            <a:ahLst/>
            <a:cxnLst/>
            <a:rect r="r" b="b" t="t" l="l"/>
            <a:pathLst>
              <a:path h="2219325" w="11430000">
                <a:moveTo>
                  <a:pt x="0" y="0"/>
                </a:moveTo>
                <a:lnTo>
                  <a:pt x="11430000" y="0"/>
                </a:lnTo>
                <a:lnTo>
                  <a:pt x="11430000" y="2219325"/>
                </a:lnTo>
                <a:lnTo>
                  <a:pt x="0" y="2219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" r="0" b="-10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55622" y="3645045"/>
            <a:ext cx="10335358" cy="1877158"/>
          </a:xfrm>
          <a:custGeom>
            <a:avLst/>
            <a:gdLst/>
            <a:ahLst/>
            <a:cxnLst/>
            <a:rect r="r" b="b" t="t" l="l"/>
            <a:pathLst>
              <a:path h="1877158" w="10335358">
                <a:moveTo>
                  <a:pt x="0" y="0"/>
                </a:moveTo>
                <a:lnTo>
                  <a:pt x="10335358" y="0"/>
                </a:lnTo>
                <a:lnTo>
                  <a:pt x="10335358" y="1877159"/>
                </a:lnTo>
                <a:lnTo>
                  <a:pt x="0" y="18771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55622" y="5550045"/>
            <a:ext cx="10335358" cy="2162908"/>
          </a:xfrm>
          <a:custGeom>
            <a:avLst/>
            <a:gdLst/>
            <a:ahLst/>
            <a:cxnLst/>
            <a:rect r="r" b="b" t="t" l="l"/>
            <a:pathLst>
              <a:path h="2162908" w="10335358">
                <a:moveTo>
                  <a:pt x="0" y="0"/>
                </a:moveTo>
                <a:lnTo>
                  <a:pt x="10335358" y="0"/>
                </a:lnTo>
                <a:lnTo>
                  <a:pt x="10335358" y="2162909"/>
                </a:lnTo>
                <a:lnTo>
                  <a:pt x="0" y="21629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55622" y="7740795"/>
            <a:ext cx="10335358" cy="1877158"/>
          </a:xfrm>
          <a:custGeom>
            <a:avLst/>
            <a:gdLst/>
            <a:ahLst/>
            <a:cxnLst/>
            <a:rect r="r" b="b" t="t" l="l"/>
            <a:pathLst>
              <a:path h="1877158" w="10335358">
                <a:moveTo>
                  <a:pt x="0" y="0"/>
                </a:moveTo>
                <a:lnTo>
                  <a:pt x="10335358" y="0"/>
                </a:lnTo>
                <a:lnTo>
                  <a:pt x="10335358" y="1877159"/>
                </a:lnTo>
                <a:lnTo>
                  <a:pt x="0" y="18771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20163" y="3008699"/>
            <a:ext cx="5018713" cy="47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3488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Metodologias Analíticas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93311" y="3706329"/>
            <a:ext cx="58731" cy="48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9"/>
              </a:lnSpc>
            </a:pPr>
            <a:r>
              <a:rPr lang="en-US" sz="174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2171" y="4389776"/>
            <a:ext cx="152067" cy="36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092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2171" y="6437651"/>
            <a:ext cx="152067" cy="36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092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2171" y="8485526"/>
            <a:ext cx="152067" cy="36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092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25038" y="3811104"/>
            <a:ext cx="2729808" cy="37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174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Rendimento</a:t>
            </a:r>
            <a:r>
              <a:rPr lang="en-US" sz="1743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174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</a:t>
            </a:r>
            <a:r>
              <a:rPr lang="en-US" sz="1743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174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Viabilidade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52958" y="4203982"/>
            <a:ext cx="46987" cy="35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25038" y="7925904"/>
            <a:ext cx="2774766" cy="36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sz="174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Análise do Destino Celular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26081" y="8299732"/>
            <a:ext cx="46987" cy="35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25038" y="5735154"/>
            <a:ext cx="3023235" cy="36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sz="174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Funcionalidade Imunológica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52958" y="6108982"/>
            <a:ext cx="46987" cy="35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25038" y="8299732"/>
            <a:ext cx="5435032" cy="35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Método: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Citometria de fluxocommarcação Annexin V e 7-AAD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25038" y="8690257"/>
            <a:ext cx="8666112" cy="63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Utilidade: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Permite diferenciar, nas subpopulações T e NK, se a perda de qualidade resulta de células </a:t>
            </a:r>
          </a:p>
          <a:p>
            <a:pPr algn="l">
              <a:lnSpc>
                <a:spcPts val="1425"/>
              </a:lnSpc>
            </a:pP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viáveis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, </a:t>
            </a: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apoptóticas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ou </a:t>
            </a: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necróticas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4 identificando o mecanismo molecular subjacente.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25038" y="4203982"/>
            <a:ext cx="7055977" cy="35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Método: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Contagemcelular automatizada (LUNA-II) com exclusão por Trypan Blue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25048" y="4584982"/>
            <a:ext cx="9062361" cy="63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Utilidade: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Quantifica a perda celular e viabilidade imediatamente após isolamento e, crucialmente, após </a:t>
            </a:r>
          </a:p>
          <a:p>
            <a:pPr algn="l">
              <a:lnSpc>
                <a:spcPts val="1499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descongelação 4 medindo a </a:t>
            </a: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robustez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da amostra para biobancos.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25038" y="6185182"/>
            <a:ext cx="9104719" cy="122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Método: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Ensaios ADCC/ADCPpor co-cultura com células SKBR3 + Ontruzant, analisados por citometria de fluxo</a:t>
            </a:r>
          </a:p>
          <a:p>
            <a:pPr algn="l">
              <a:lnSpc>
                <a:spcPts val="3487"/>
              </a:lnSpc>
            </a:pP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Utilidade: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Testam diretamente a capacidade das PBMCs de eliminar células-alvo, </a:t>
            </a: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simulando o efeito </a:t>
            </a:r>
          </a:p>
          <a:p>
            <a:pPr algn="l">
              <a:lnSpc>
                <a:spcPts val="819"/>
              </a:lnSpc>
            </a:pPr>
            <a:r>
              <a:rPr lang="en-US" b="true" sz="1437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biológico</a:t>
            </a:r>
            <a:r>
              <a:rPr lang="en-US" sz="1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da imunoterapia </a:t>
            </a:r>
            <a:r>
              <a:rPr lang="en-US" sz="1437" i="true">
                <a:solidFill>
                  <a:srgbClr val="4C4C4C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in vitro</a:t>
            </a:r>
            <a:r>
              <a:rPr lang="en-US" sz="1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482757"/>
            <a:ext cx="11556997" cy="9242422"/>
            <a:chOff x="0" y="0"/>
            <a:chExt cx="11557000" cy="9242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9115425"/>
            </a:xfrm>
            <a:custGeom>
              <a:avLst/>
              <a:gdLst/>
              <a:ahLst/>
              <a:cxnLst/>
              <a:rect r="r" b="b" t="t" l="l"/>
              <a:pathLst>
                <a:path h="9115425" w="11430000">
                  <a:moveTo>
                    <a:pt x="0" y="0"/>
                  </a:moveTo>
                  <a:lnTo>
                    <a:pt x="0" y="9115425"/>
                  </a:lnTo>
                  <a:lnTo>
                    <a:pt x="11430000" y="91154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9115425"/>
            </a:xfrm>
            <a:custGeom>
              <a:avLst/>
              <a:gdLst/>
              <a:ahLst/>
              <a:cxnLst/>
              <a:rect r="r" b="b" t="t" l="l"/>
              <a:pathLst>
                <a:path h="9115425" w="11430000">
                  <a:moveTo>
                    <a:pt x="0" y="0"/>
                  </a:moveTo>
                  <a:lnTo>
                    <a:pt x="0" y="9115425"/>
                  </a:lnTo>
                  <a:lnTo>
                    <a:pt x="11430000" y="91154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9115425"/>
            </a:xfrm>
            <a:custGeom>
              <a:avLst/>
              <a:gdLst/>
              <a:ahLst/>
              <a:cxnLst/>
              <a:rect r="r" b="b" t="t" l="l"/>
              <a:pathLst>
                <a:path h="9115425" w="11430000">
                  <a:moveTo>
                    <a:pt x="0" y="0"/>
                  </a:moveTo>
                  <a:lnTo>
                    <a:pt x="0" y="9115425"/>
                  </a:lnTo>
                  <a:lnTo>
                    <a:pt x="11430000" y="91154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E6DED2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1430000" cy="9115425"/>
            </a:xfrm>
            <a:custGeom>
              <a:avLst/>
              <a:gdLst/>
              <a:ahLst/>
              <a:cxnLst/>
              <a:rect r="r" b="b" t="t" l="l"/>
              <a:pathLst>
                <a:path h="9115425" w="11430000">
                  <a:moveTo>
                    <a:pt x="0" y="0"/>
                  </a:moveTo>
                  <a:lnTo>
                    <a:pt x="0" y="9115425"/>
                  </a:lnTo>
                  <a:lnTo>
                    <a:pt x="11430000" y="91154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E6DED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1430000" cy="9115425"/>
            </a:xfrm>
            <a:custGeom>
              <a:avLst/>
              <a:gdLst/>
              <a:ahLst/>
              <a:cxnLst/>
              <a:rect r="r" b="b" t="t" l="l"/>
              <a:pathLst>
                <a:path h="9115425" w="11430000">
                  <a:moveTo>
                    <a:pt x="0" y="0"/>
                  </a:moveTo>
                  <a:lnTo>
                    <a:pt x="0" y="9115425"/>
                  </a:lnTo>
                  <a:lnTo>
                    <a:pt x="11430000" y="91154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01802" y="2349500"/>
              <a:ext cx="66548" cy="66802"/>
            </a:xfrm>
            <a:custGeom>
              <a:avLst/>
              <a:gdLst/>
              <a:ahLst/>
              <a:cxnLst/>
              <a:rect r="r" b="b" t="t" l="l"/>
              <a:pathLst>
                <a:path h="66802" w="66548">
                  <a:moveTo>
                    <a:pt x="66548" y="33401"/>
                  </a:moveTo>
                  <a:cubicBezTo>
                    <a:pt x="66548" y="37846"/>
                    <a:pt x="65659" y="42037"/>
                    <a:pt x="64008" y="46228"/>
                  </a:cubicBezTo>
                  <a:cubicBezTo>
                    <a:pt x="62357" y="50419"/>
                    <a:pt x="59944" y="53848"/>
                    <a:pt x="56769" y="57023"/>
                  </a:cubicBezTo>
                  <a:cubicBezTo>
                    <a:pt x="53594" y="60198"/>
                    <a:pt x="50038" y="62611"/>
                    <a:pt x="45974" y="64262"/>
                  </a:cubicBezTo>
                  <a:cubicBezTo>
                    <a:pt x="41910" y="65913"/>
                    <a:pt x="37592" y="66802"/>
                    <a:pt x="33274" y="66802"/>
                  </a:cubicBezTo>
                  <a:cubicBezTo>
                    <a:pt x="28956" y="66802"/>
                    <a:pt x="24638" y="65913"/>
                    <a:pt x="20574" y="64262"/>
                  </a:cubicBezTo>
                  <a:cubicBezTo>
                    <a:pt x="16510" y="62611"/>
                    <a:pt x="12827" y="60198"/>
                    <a:pt x="9779" y="57023"/>
                  </a:cubicBezTo>
                  <a:cubicBezTo>
                    <a:pt x="6731" y="53848"/>
                    <a:pt x="4191" y="50292"/>
                    <a:pt x="2540" y="46228"/>
                  </a:cubicBezTo>
                  <a:cubicBezTo>
                    <a:pt x="889" y="42164"/>
                    <a:pt x="0" y="37846"/>
                    <a:pt x="0" y="33401"/>
                  </a:cubicBezTo>
                  <a:cubicBezTo>
                    <a:pt x="0" y="28956"/>
                    <a:pt x="889" y="24765"/>
                    <a:pt x="2540" y="20574"/>
                  </a:cubicBezTo>
                  <a:cubicBezTo>
                    <a:pt x="4191" y="16383"/>
                    <a:pt x="6604" y="12954"/>
                    <a:pt x="9779" y="9779"/>
                  </a:cubicBezTo>
                  <a:cubicBezTo>
                    <a:pt x="12954" y="6604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401"/>
                  </a:cubicBezTo>
                </a:path>
              </a:pathLst>
            </a:custGeom>
            <a:solidFill>
              <a:srgbClr val="4C4C4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01802" y="2978150"/>
              <a:ext cx="66548" cy="66675"/>
            </a:xfrm>
            <a:custGeom>
              <a:avLst/>
              <a:gdLst/>
              <a:ahLst/>
              <a:cxnLst/>
              <a:rect r="r" b="b" t="t" l="l"/>
              <a:pathLst>
                <a:path h="66675" w="66548">
                  <a:moveTo>
                    <a:pt x="66548" y="33401"/>
                  </a:moveTo>
                  <a:cubicBezTo>
                    <a:pt x="66548" y="37846"/>
                    <a:pt x="65659" y="42037"/>
                    <a:pt x="64008" y="46101"/>
                  </a:cubicBezTo>
                  <a:cubicBezTo>
                    <a:pt x="62357" y="50165"/>
                    <a:pt x="59944" y="53721"/>
                    <a:pt x="56769" y="56896"/>
                  </a:cubicBezTo>
                  <a:cubicBezTo>
                    <a:pt x="53594" y="60071"/>
                    <a:pt x="50038" y="62484"/>
                    <a:pt x="45974" y="64135"/>
                  </a:cubicBezTo>
                  <a:cubicBezTo>
                    <a:pt x="41910" y="65786"/>
                    <a:pt x="37592" y="66675"/>
                    <a:pt x="33274" y="66675"/>
                  </a:cubicBezTo>
                  <a:cubicBezTo>
                    <a:pt x="28956" y="66675"/>
                    <a:pt x="24638" y="65786"/>
                    <a:pt x="20574" y="64135"/>
                  </a:cubicBezTo>
                  <a:cubicBezTo>
                    <a:pt x="16510" y="62484"/>
                    <a:pt x="12827" y="60071"/>
                    <a:pt x="9779" y="56896"/>
                  </a:cubicBezTo>
                  <a:cubicBezTo>
                    <a:pt x="6731" y="53721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574"/>
                  </a:cubicBezTo>
                  <a:cubicBezTo>
                    <a:pt x="4191" y="16383"/>
                    <a:pt x="6604" y="12954"/>
                    <a:pt x="9779" y="9779"/>
                  </a:cubicBezTo>
                  <a:cubicBezTo>
                    <a:pt x="12954" y="6604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401"/>
                  </a:cubicBezTo>
                </a:path>
              </a:pathLst>
            </a:custGeom>
            <a:solidFill>
              <a:srgbClr val="4C4C4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2625" y="3717798"/>
              <a:ext cx="10191750" cy="28575"/>
            </a:xfrm>
            <a:custGeom>
              <a:avLst/>
              <a:gdLst/>
              <a:ahLst/>
              <a:cxnLst/>
              <a:rect r="r" b="b" t="t" l="l"/>
              <a:pathLst>
                <a:path h="28575" w="10191750">
                  <a:moveTo>
                    <a:pt x="0" y="28575"/>
                  </a:moveTo>
                  <a:lnTo>
                    <a:pt x="10191750" y="28575"/>
                  </a:lnTo>
                  <a:lnTo>
                    <a:pt x="101917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4C4C">
                <a:alpha val="25098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82625" y="3736848"/>
              <a:ext cx="10191750" cy="9525"/>
            </a:xfrm>
            <a:custGeom>
              <a:avLst/>
              <a:gdLst/>
              <a:ahLst/>
              <a:cxnLst/>
              <a:rect r="r" b="b" t="t" l="l"/>
              <a:pathLst>
                <a:path h="9525" w="10191750">
                  <a:moveTo>
                    <a:pt x="0" y="9525"/>
                  </a:moveTo>
                  <a:lnTo>
                    <a:pt x="10191750" y="9525"/>
                  </a:lnTo>
                  <a:lnTo>
                    <a:pt x="101917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ED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619125" y="4632485"/>
            <a:ext cx="4352925" cy="4343400"/>
            <a:chOff x="0" y="0"/>
            <a:chExt cx="5803900" cy="579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03900" cy="5791200"/>
            </a:xfrm>
            <a:custGeom>
              <a:avLst/>
              <a:gdLst/>
              <a:ahLst/>
              <a:cxnLst/>
              <a:rect r="r" b="b" t="t" l="l"/>
              <a:pathLst>
                <a:path h="5791200" w="5803900">
                  <a:moveTo>
                    <a:pt x="82423" y="0"/>
                  </a:moveTo>
                  <a:cubicBezTo>
                    <a:pt x="71628" y="0"/>
                    <a:pt x="61087" y="2159"/>
                    <a:pt x="51054" y="6350"/>
                  </a:cubicBezTo>
                  <a:cubicBezTo>
                    <a:pt x="41021" y="10541"/>
                    <a:pt x="32004" y="16510"/>
                    <a:pt x="24257" y="24257"/>
                  </a:cubicBezTo>
                  <a:cubicBezTo>
                    <a:pt x="16510" y="32004"/>
                    <a:pt x="10541" y="40894"/>
                    <a:pt x="6350" y="51054"/>
                  </a:cubicBezTo>
                  <a:cubicBezTo>
                    <a:pt x="2159" y="61214"/>
                    <a:pt x="0" y="71755"/>
                    <a:pt x="0" y="82677"/>
                  </a:cubicBezTo>
                  <a:lnTo>
                    <a:pt x="0" y="5708523"/>
                  </a:lnTo>
                  <a:cubicBezTo>
                    <a:pt x="0" y="5719445"/>
                    <a:pt x="2159" y="5729986"/>
                    <a:pt x="6350" y="5740146"/>
                  </a:cubicBezTo>
                  <a:cubicBezTo>
                    <a:pt x="10541" y="5750306"/>
                    <a:pt x="16510" y="5759196"/>
                    <a:pt x="24257" y="5766943"/>
                  </a:cubicBezTo>
                  <a:cubicBezTo>
                    <a:pt x="32004" y="5774689"/>
                    <a:pt x="40894" y="5780658"/>
                    <a:pt x="51054" y="5784850"/>
                  </a:cubicBezTo>
                  <a:cubicBezTo>
                    <a:pt x="61214" y="5789041"/>
                    <a:pt x="71755" y="5791200"/>
                    <a:pt x="82677" y="5791200"/>
                  </a:cubicBezTo>
                  <a:lnTo>
                    <a:pt x="5721223" y="5791200"/>
                  </a:lnTo>
                  <a:cubicBezTo>
                    <a:pt x="5732145" y="5791200"/>
                    <a:pt x="5742686" y="5789040"/>
                    <a:pt x="5752846" y="5784850"/>
                  </a:cubicBezTo>
                  <a:cubicBezTo>
                    <a:pt x="5763006" y="5780659"/>
                    <a:pt x="5771896" y="5774690"/>
                    <a:pt x="5779643" y="5766943"/>
                  </a:cubicBezTo>
                  <a:cubicBezTo>
                    <a:pt x="5787389" y="5759195"/>
                    <a:pt x="5793358" y="5750306"/>
                    <a:pt x="5797550" y="5740146"/>
                  </a:cubicBezTo>
                  <a:cubicBezTo>
                    <a:pt x="5801741" y="5729986"/>
                    <a:pt x="5803900" y="5719445"/>
                    <a:pt x="5803900" y="5708523"/>
                  </a:cubicBezTo>
                  <a:lnTo>
                    <a:pt x="5803900" y="82677"/>
                  </a:lnTo>
                  <a:cubicBezTo>
                    <a:pt x="5803900" y="71755"/>
                    <a:pt x="5801740" y="61214"/>
                    <a:pt x="5797550" y="51054"/>
                  </a:cubicBezTo>
                  <a:cubicBezTo>
                    <a:pt x="5793359" y="40894"/>
                    <a:pt x="5787390" y="32004"/>
                    <a:pt x="5779643" y="24257"/>
                  </a:cubicBezTo>
                  <a:cubicBezTo>
                    <a:pt x="5771895" y="16510"/>
                    <a:pt x="5763006" y="10541"/>
                    <a:pt x="5752846" y="6350"/>
                  </a:cubicBezTo>
                  <a:cubicBezTo>
                    <a:pt x="5742686" y="2159"/>
                    <a:pt x="5732272" y="0"/>
                    <a:pt x="572147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346697" y="4568982"/>
            <a:ext cx="5537197" cy="1441447"/>
            <a:chOff x="0" y="0"/>
            <a:chExt cx="5537200" cy="1441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410200" cy="1314577"/>
            </a:xfrm>
            <a:custGeom>
              <a:avLst/>
              <a:gdLst/>
              <a:ahLst/>
              <a:cxnLst/>
              <a:rect r="r" b="b" t="t" l="l"/>
              <a:pathLst>
                <a:path h="1314577" w="5410200">
                  <a:moveTo>
                    <a:pt x="0" y="1252474"/>
                  </a:moveTo>
                  <a:lnTo>
                    <a:pt x="0" y="61976"/>
                  </a:ln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175" y="42037"/>
                    <a:pt x="4699" y="38227"/>
                  </a:cubicBezTo>
                  <a:cubicBezTo>
                    <a:pt x="6223" y="34417"/>
                    <a:pt x="8128" y="30861"/>
                    <a:pt x="10414" y="27432"/>
                  </a:cubicBezTo>
                  <a:cubicBezTo>
                    <a:pt x="12700" y="24003"/>
                    <a:pt x="15240" y="20955"/>
                    <a:pt x="18161" y="18034"/>
                  </a:cubicBezTo>
                  <a:cubicBezTo>
                    <a:pt x="21082" y="15113"/>
                    <a:pt x="24130" y="12573"/>
                    <a:pt x="27559" y="10287"/>
                  </a:cubicBezTo>
                  <a:cubicBezTo>
                    <a:pt x="30988" y="8001"/>
                    <a:pt x="34544" y="6096"/>
                    <a:pt x="38227" y="4572"/>
                  </a:cubicBezTo>
                  <a:cubicBezTo>
                    <a:pt x="41910" y="3048"/>
                    <a:pt x="45847" y="1905"/>
                    <a:pt x="49911" y="1016"/>
                  </a:cubicBezTo>
                  <a:cubicBezTo>
                    <a:pt x="53975" y="127"/>
                    <a:pt x="57912" y="0"/>
                    <a:pt x="61976" y="0"/>
                  </a:cubicBezTo>
                  <a:lnTo>
                    <a:pt x="5348224" y="0"/>
                  </a:lnTo>
                  <a:cubicBezTo>
                    <a:pt x="5352288" y="0"/>
                    <a:pt x="5356352" y="381"/>
                    <a:pt x="5360289" y="1143"/>
                  </a:cubicBezTo>
                  <a:cubicBezTo>
                    <a:pt x="5364226" y="1905"/>
                    <a:pt x="5368163" y="3048"/>
                    <a:pt x="5371973" y="4699"/>
                  </a:cubicBezTo>
                  <a:cubicBezTo>
                    <a:pt x="5375783" y="6350"/>
                    <a:pt x="5379339" y="8128"/>
                    <a:pt x="5382641" y="10414"/>
                  </a:cubicBezTo>
                  <a:cubicBezTo>
                    <a:pt x="5385943" y="12700"/>
                    <a:pt x="5389118" y="15240"/>
                    <a:pt x="5392039" y="18161"/>
                  </a:cubicBezTo>
                  <a:cubicBezTo>
                    <a:pt x="5394960" y="21082"/>
                    <a:pt x="5397500" y="24130"/>
                    <a:pt x="5399786" y="27559"/>
                  </a:cubicBezTo>
                  <a:cubicBezTo>
                    <a:pt x="5402072" y="30988"/>
                    <a:pt x="5403977" y="34544"/>
                    <a:pt x="5405501" y="38354"/>
                  </a:cubicBezTo>
                  <a:cubicBezTo>
                    <a:pt x="5407025" y="42164"/>
                    <a:pt x="5408168" y="45974"/>
                    <a:pt x="5409057" y="50038"/>
                  </a:cubicBezTo>
                  <a:cubicBezTo>
                    <a:pt x="5409946" y="54102"/>
                    <a:pt x="5410200" y="58039"/>
                    <a:pt x="5410200" y="62103"/>
                  </a:cubicBezTo>
                  <a:lnTo>
                    <a:pt x="5410200" y="1252474"/>
                  </a:lnTo>
                  <a:cubicBezTo>
                    <a:pt x="5410200" y="1256538"/>
                    <a:pt x="5409819" y="1260602"/>
                    <a:pt x="5409057" y="1264539"/>
                  </a:cubicBezTo>
                  <a:cubicBezTo>
                    <a:pt x="5408295" y="1268476"/>
                    <a:pt x="5407152" y="1272413"/>
                    <a:pt x="5405501" y="1276223"/>
                  </a:cubicBezTo>
                  <a:cubicBezTo>
                    <a:pt x="5403850" y="1280033"/>
                    <a:pt x="5402072" y="1283589"/>
                    <a:pt x="5399786" y="1287018"/>
                  </a:cubicBezTo>
                  <a:cubicBezTo>
                    <a:pt x="5397500" y="1290447"/>
                    <a:pt x="5394960" y="1293495"/>
                    <a:pt x="5392039" y="1296416"/>
                  </a:cubicBezTo>
                  <a:cubicBezTo>
                    <a:pt x="5389118" y="1299337"/>
                    <a:pt x="5386070" y="1301877"/>
                    <a:pt x="5382641" y="1304163"/>
                  </a:cubicBezTo>
                  <a:cubicBezTo>
                    <a:pt x="5379212" y="1306449"/>
                    <a:pt x="5375656" y="1308354"/>
                    <a:pt x="5371973" y="1309878"/>
                  </a:cubicBezTo>
                  <a:cubicBezTo>
                    <a:pt x="5368290" y="1311402"/>
                    <a:pt x="5364353" y="1312672"/>
                    <a:pt x="5360289" y="1313434"/>
                  </a:cubicBezTo>
                  <a:cubicBezTo>
                    <a:pt x="5356225" y="1314196"/>
                    <a:pt x="5352288" y="1314577"/>
                    <a:pt x="5348224" y="1314577"/>
                  </a:cubicBezTo>
                  <a:lnTo>
                    <a:pt x="61976" y="1314577"/>
                  </a:lnTo>
                  <a:cubicBezTo>
                    <a:pt x="57912" y="1314577"/>
                    <a:pt x="53848" y="1314196"/>
                    <a:pt x="49911" y="1313434"/>
                  </a:cubicBezTo>
                  <a:cubicBezTo>
                    <a:pt x="45974" y="1312672"/>
                    <a:pt x="42037" y="1311529"/>
                    <a:pt x="38227" y="1309878"/>
                  </a:cubicBezTo>
                  <a:cubicBezTo>
                    <a:pt x="34417" y="1308227"/>
                    <a:pt x="30861" y="1306449"/>
                    <a:pt x="27559" y="1304163"/>
                  </a:cubicBezTo>
                  <a:cubicBezTo>
                    <a:pt x="24257" y="1301877"/>
                    <a:pt x="21082" y="1299337"/>
                    <a:pt x="18161" y="1296416"/>
                  </a:cubicBezTo>
                  <a:cubicBezTo>
                    <a:pt x="15240" y="1293495"/>
                    <a:pt x="12700" y="1290447"/>
                    <a:pt x="10414" y="1287018"/>
                  </a:cubicBezTo>
                  <a:cubicBezTo>
                    <a:pt x="8128" y="1283589"/>
                    <a:pt x="6223" y="1280033"/>
                    <a:pt x="4699" y="1276223"/>
                  </a:cubicBezTo>
                  <a:cubicBezTo>
                    <a:pt x="3175" y="1272413"/>
                    <a:pt x="1905" y="1268603"/>
                    <a:pt x="1143" y="1264539"/>
                  </a:cubicBezTo>
                  <a:cubicBezTo>
                    <a:pt x="381" y="1260475"/>
                    <a:pt x="0" y="1256538"/>
                    <a:pt x="0" y="1252474"/>
                  </a:cubicBezTo>
                </a:path>
              </a:pathLst>
            </a:custGeom>
            <a:solidFill>
              <a:srgbClr val="DDDAD4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77749" y="350901"/>
              <a:ext cx="154940" cy="154813"/>
            </a:xfrm>
            <a:custGeom>
              <a:avLst/>
              <a:gdLst/>
              <a:ahLst/>
              <a:cxnLst/>
              <a:rect r="r" b="b" t="t" l="l"/>
              <a:pathLst>
                <a:path h="154813" w="154940">
                  <a:moveTo>
                    <a:pt x="22098" y="16510"/>
                  </a:moveTo>
                  <a:cubicBezTo>
                    <a:pt x="19050" y="16510"/>
                    <a:pt x="16510" y="19050"/>
                    <a:pt x="16510" y="22098"/>
                  </a:cubicBezTo>
                  <a:lnTo>
                    <a:pt x="16510" y="132715"/>
                  </a:lnTo>
                  <a:cubicBezTo>
                    <a:pt x="16510" y="135763"/>
                    <a:pt x="19050" y="138303"/>
                    <a:pt x="22098" y="138303"/>
                  </a:cubicBezTo>
                  <a:lnTo>
                    <a:pt x="99568" y="138303"/>
                  </a:lnTo>
                  <a:lnTo>
                    <a:pt x="99568" y="110617"/>
                  </a:lnTo>
                  <a:cubicBezTo>
                    <a:pt x="99568" y="104521"/>
                    <a:pt x="104521" y="99568"/>
                    <a:pt x="110617" y="99568"/>
                  </a:cubicBezTo>
                  <a:lnTo>
                    <a:pt x="138303" y="99568"/>
                  </a:lnTo>
                  <a:lnTo>
                    <a:pt x="138303" y="22098"/>
                  </a:lnTo>
                  <a:cubicBezTo>
                    <a:pt x="138303" y="19050"/>
                    <a:pt x="135763" y="16510"/>
                    <a:pt x="132715" y="16510"/>
                  </a:cubicBezTo>
                  <a:lnTo>
                    <a:pt x="22098" y="16510"/>
                  </a:lnTo>
                  <a:close/>
                  <a:moveTo>
                    <a:pt x="99568" y="154813"/>
                  </a:moveTo>
                  <a:lnTo>
                    <a:pt x="22098" y="154813"/>
                  </a:lnTo>
                  <a:cubicBezTo>
                    <a:pt x="9906" y="154813"/>
                    <a:pt x="0" y="144907"/>
                    <a:pt x="0" y="132715"/>
                  </a:cubicBezTo>
                  <a:lnTo>
                    <a:pt x="0" y="22098"/>
                  </a:lnTo>
                  <a:cubicBezTo>
                    <a:pt x="0" y="9906"/>
                    <a:pt x="9906" y="0"/>
                    <a:pt x="22098" y="0"/>
                  </a:cubicBezTo>
                  <a:lnTo>
                    <a:pt x="132842" y="0"/>
                  </a:lnTo>
                  <a:cubicBezTo>
                    <a:pt x="145034" y="0"/>
                    <a:pt x="154940" y="9906"/>
                    <a:pt x="154940" y="22098"/>
                  </a:cubicBezTo>
                  <a:lnTo>
                    <a:pt x="154940" y="99568"/>
                  </a:lnTo>
                  <a:lnTo>
                    <a:pt x="154940" y="101473"/>
                  </a:lnTo>
                  <a:cubicBezTo>
                    <a:pt x="154940" y="107315"/>
                    <a:pt x="152654" y="113030"/>
                    <a:pt x="148463" y="117094"/>
                  </a:cubicBezTo>
                  <a:lnTo>
                    <a:pt x="117221" y="148336"/>
                  </a:lnTo>
                  <a:cubicBezTo>
                    <a:pt x="113030" y="152527"/>
                    <a:pt x="107442" y="154813"/>
                    <a:pt x="101600" y="154813"/>
                  </a:cubicBezTo>
                  <a:lnTo>
                    <a:pt x="99695" y="154813"/>
                  </a:lnTo>
                </a:path>
              </a:pathLst>
            </a:custGeom>
            <a:solidFill>
              <a:srgbClr val="554E4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20163" y="1051343"/>
            <a:ext cx="10219182" cy="133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789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O atraso no processamento do sangue compromete a função </a:t>
            </a:r>
          </a:p>
          <a:p>
            <a:pPr algn="l">
              <a:lnSpc>
                <a:spcPts val="3545"/>
              </a:lnSpc>
            </a:pPr>
            <a:r>
              <a:rPr lang="en-US" sz="2875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imunitária </a:t>
            </a:r>
            <a:r>
              <a:rPr lang="en-US" sz="2875" i="true">
                <a:solidFill>
                  <a:srgbClr val="3A3A3A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in vitro</a:t>
            </a:r>
            <a:r>
              <a:rPr lang="en-US" sz="2875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 das PBMCs em ensaios funcionais </a:t>
            </a:r>
          </a:p>
          <a:p>
            <a:pPr algn="l">
              <a:lnSpc>
                <a:spcPts val="3440"/>
              </a:lnSpc>
            </a:pPr>
            <a:r>
              <a:rPr lang="en-US" sz="2789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relevantes para a terapia anticorpo-mediada?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14393" y="2594269"/>
            <a:ext cx="46987" cy="39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85129" y="4842169"/>
            <a:ext cx="4678556" cy="84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394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Vantagem do Desenho Emparelhado:</a:t>
            </a: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A comparação intra-paciente elimina a variabilidade biológica individual, isolando rigorosamente o efeito temporal.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3532" y="2708569"/>
            <a:ext cx="10138343" cy="27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 análise combinada de</a:t>
            </a: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ADCCeADCP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constituiametodologiaapropriada pararesponderaestaquestão nocontexto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3532" y="2994319"/>
            <a:ext cx="10084318" cy="90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específico da terapia HER2-positivo.</a:t>
            </a:r>
          </a:p>
          <a:p>
            <a:pPr algn="l">
              <a:lnSpc>
                <a:spcPts val="3149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 quantificação de </a:t>
            </a: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apoptose/necrose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por citometria multiparamétrica foi essencial para compreender o mecanismo </a:t>
            </a:r>
          </a:p>
          <a:p>
            <a:pPr algn="l">
              <a:lnSpc>
                <a:spcPts val="135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subjacente a qualquer perda de funcionalidade.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1276760"/>
            <a:ext cx="11430000" cy="7658100"/>
            <a:chOff x="0" y="0"/>
            <a:chExt cx="11430000" cy="765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7657846"/>
              <a:ext cx="11430000" cy="254"/>
            </a:xfrm>
            <a:custGeom>
              <a:avLst/>
              <a:gdLst/>
              <a:ahLst/>
              <a:cxnLst/>
              <a:rect r="r" b="b" t="t" l="l"/>
              <a:pathLst>
                <a:path h="254" w="11430000">
                  <a:moveTo>
                    <a:pt x="0" y="0"/>
                  </a:moveTo>
                  <a:lnTo>
                    <a:pt x="0" y="254"/>
                  </a:lnTo>
                  <a:lnTo>
                    <a:pt x="11430000" y="254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1276760"/>
            <a:ext cx="4286250" cy="7658100"/>
          </a:xfrm>
          <a:custGeom>
            <a:avLst/>
            <a:gdLst/>
            <a:ahLst/>
            <a:cxnLst/>
            <a:rect r="r" b="b" t="t" l="l"/>
            <a:pathLst>
              <a:path h="7658100" w="4286250">
                <a:moveTo>
                  <a:pt x="0" y="0"/>
                </a:moveTo>
                <a:lnTo>
                  <a:pt x="4286250" y="0"/>
                </a:lnTo>
                <a:lnTo>
                  <a:pt x="4286250" y="7658100"/>
                </a:lnTo>
                <a:lnTo>
                  <a:pt x="0" y="7658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" t="-51" r="-96" b="-4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82896" y="2568854"/>
            <a:ext cx="944880" cy="1115568"/>
          </a:xfrm>
          <a:custGeom>
            <a:avLst/>
            <a:gdLst/>
            <a:ahLst/>
            <a:cxnLst/>
            <a:rect r="r" b="b" t="t" l="l"/>
            <a:pathLst>
              <a:path h="1115568" w="944880">
                <a:moveTo>
                  <a:pt x="0" y="0"/>
                </a:moveTo>
                <a:lnTo>
                  <a:pt x="944880" y="0"/>
                </a:lnTo>
                <a:lnTo>
                  <a:pt x="944880" y="1115568"/>
                </a:lnTo>
                <a:lnTo>
                  <a:pt x="0" y="1115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82896" y="3623462"/>
            <a:ext cx="944880" cy="2185416"/>
          </a:xfrm>
          <a:custGeom>
            <a:avLst/>
            <a:gdLst/>
            <a:ahLst/>
            <a:cxnLst/>
            <a:rect r="r" b="b" t="t" l="l"/>
            <a:pathLst>
              <a:path h="2185416" w="944880">
                <a:moveTo>
                  <a:pt x="0" y="0"/>
                </a:moveTo>
                <a:lnTo>
                  <a:pt x="944880" y="0"/>
                </a:lnTo>
                <a:lnTo>
                  <a:pt x="944880" y="2185416"/>
                </a:lnTo>
                <a:lnTo>
                  <a:pt x="0" y="2185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06413" y="1757753"/>
            <a:ext cx="2274218" cy="6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3"/>
              </a:lnSpc>
            </a:pPr>
            <a:r>
              <a:rPr lang="en-US" sz="3488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Conclusão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77450" y="2710205"/>
            <a:ext cx="152067" cy="5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1"/>
              </a:lnSpc>
            </a:pPr>
            <a:r>
              <a:rPr lang="en-US" sz="2092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77450" y="3777005"/>
            <a:ext cx="152067" cy="5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1"/>
              </a:lnSpc>
            </a:pPr>
            <a:r>
              <a:rPr lang="en-US" sz="2092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77450" y="4843805"/>
            <a:ext cx="152067" cy="5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1"/>
              </a:lnSpc>
            </a:pPr>
            <a:r>
              <a:rPr lang="en-US" sz="2092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69498" y="4798533"/>
            <a:ext cx="1932213" cy="37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174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Relevância Clínica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1975" y="5191411"/>
            <a:ext cx="46987" cy="35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69498" y="2750658"/>
            <a:ext cx="3799780" cy="657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DesenhoExperimental </a:t>
            </a:r>
          </a:p>
          <a:p>
            <a:pPr algn="l">
              <a:lnSpc>
                <a:spcPts val="1952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Amostrasemparelhadasdomesmo paciente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69498" y="3750783"/>
            <a:ext cx="3263808" cy="36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sz="174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Metodologias Complementares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78644" y="4124611"/>
            <a:ext cx="46987" cy="35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69498" y="4229386"/>
            <a:ext cx="3494303" cy="24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Viabilidade,</a:t>
            </a: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função</a:t>
            </a: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</a:t>
            </a: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mecanismo</a:t>
            </a:r>
            <a:r>
              <a:rPr lang="en-US" sz="139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celular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69498" y="5153311"/>
            <a:ext cx="4407284" cy="39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Impactodireto nafiabilidade de ensaios funcionais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06413" y="5848636"/>
            <a:ext cx="6001522" cy="258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 abordagem metodológica permitiu aos autores demonstrar que </a:t>
            </a: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o </a:t>
            </a:r>
          </a:p>
          <a:p>
            <a:pPr algn="l">
              <a:lnSpc>
                <a:spcPts val="1012"/>
              </a:lnSpc>
            </a:pP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tempo de espera compromete significativamente a qualidade das </a:t>
            </a:r>
          </a:p>
          <a:p>
            <a:pPr algn="l">
              <a:lnSpc>
                <a:spcPts val="3487"/>
              </a:lnSpc>
            </a:pP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PBMCs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, com as </a:t>
            </a: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Células NK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particularmente sensíveis ao atraso </a:t>
            </a:r>
          </a:p>
          <a:p>
            <a:pPr algn="l">
              <a:lnSpc>
                <a:spcPts val="1012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temporal.</a:t>
            </a:r>
          </a:p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Esta descoberta tem implicações diretas para a </a:t>
            </a: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fiabilidade e </a:t>
            </a:r>
          </a:p>
          <a:p>
            <a:pPr algn="l">
              <a:lnSpc>
                <a:spcPts val="1012"/>
              </a:lnSpc>
            </a:pPr>
            <a:r>
              <a:rPr lang="en-US" b="true" sz="1394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interpretação</a:t>
            </a: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de ensaios funcionais imunológicos em estudos </a:t>
            </a:r>
          </a:p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clínicos multicêntricos, sublinhando a necessidade de protocolos de </a:t>
            </a:r>
          </a:p>
          <a:p>
            <a:pPr algn="l">
              <a:lnSpc>
                <a:spcPts val="1012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processamento padronizados e otimizados.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6DE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1822704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01802" y="2863596"/>
              <a:ext cx="66548" cy="66675"/>
            </a:xfrm>
            <a:custGeom>
              <a:avLst/>
              <a:gdLst/>
              <a:ahLst/>
              <a:cxnLst/>
              <a:rect r="r" b="b" t="t" l="l"/>
              <a:pathLst>
                <a:path h="66675" w="66548">
                  <a:moveTo>
                    <a:pt x="66548" y="33401"/>
                  </a:moveTo>
                  <a:cubicBezTo>
                    <a:pt x="66548" y="37846"/>
                    <a:pt x="65659" y="42037"/>
                    <a:pt x="64008" y="46101"/>
                  </a:cubicBezTo>
                  <a:cubicBezTo>
                    <a:pt x="62357" y="50165"/>
                    <a:pt x="59944" y="53848"/>
                    <a:pt x="56769" y="56896"/>
                  </a:cubicBezTo>
                  <a:cubicBezTo>
                    <a:pt x="53594" y="59944"/>
                    <a:pt x="50038" y="62484"/>
                    <a:pt x="45974" y="64135"/>
                  </a:cubicBezTo>
                  <a:cubicBezTo>
                    <a:pt x="41910" y="65786"/>
                    <a:pt x="37592" y="66675"/>
                    <a:pt x="33274" y="66675"/>
                  </a:cubicBezTo>
                  <a:cubicBezTo>
                    <a:pt x="28956" y="66675"/>
                    <a:pt x="24638" y="65786"/>
                    <a:pt x="20574" y="64135"/>
                  </a:cubicBezTo>
                  <a:cubicBezTo>
                    <a:pt x="16510" y="62484"/>
                    <a:pt x="12827" y="60071"/>
                    <a:pt x="9779" y="56896"/>
                  </a:cubicBezTo>
                  <a:cubicBezTo>
                    <a:pt x="6731" y="53721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574"/>
                  </a:cubicBezTo>
                  <a:cubicBezTo>
                    <a:pt x="4191" y="16383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401"/>
                  </a:cubicBezTo>
                </a:path>
              </a:pathLst>
            </a:custGeom>
            <a:solidFill>
              <a:srgbClr val="4C4C4C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01802" y="3492245"/>
              <a:ext cx="66548" cy="66676"/>
            </a:xfrm>
            <a:custGeom>
              <a:avLst/>
              <a:gdLst/>
              <a:ahLst/>
              <a:cxnLst/>
              <a:rect r="r" b="b" t="t" l="l"/>
              <a:pathLst>
                <a:path h="66676" w="66548">
                  <a:moveTo>
                    <a:pt x="66548" y="33402"/>
                  </a:moveTo>
                  <a:cubicBezTo>
                    <a:pt x="66548" y="37847"/>
                    <a:pt x="65659" y="42038"/>
                    <a:pt x="64008" y="46102"/>
                  </a:cubicBezTo>
                  <a:cubicBezTo>
                    <a:pt x="62357" y="50166"/>
                    <a:pt x="59944" y="53849"/>
                    <a:pt x="56769" y="56897"/>
                  </a:cubicBezTo>
                  <a:cubicBezTo>
                    <a:pt x="53594" y="59945"/>
                    <a:pt x="50038" y="62485"/>
                    <a:pt x="45974" y="64136"/>
                  </a:cubicBezTo>
                  <a:cubicBezTo>
                    <a:pt x="41910" y="65787"/>
                    <a:pt x="37592" y="66676"/>
                    <a:pt x="33274" y="66676"/>
                  </a:cubicBezTo>
                  <a:cubicBezTo>
                    <a:pt x="28956" y="66676"/>
                    <a:pt x="24638" y="65787"/>
                    <a:pt x="20574" y="64136"/>
                  </a:cubicBezTo>
                  <a:cubicBezTo>
                    <a:pt x="16510" y="62485"/>
                    <a:pt x="12827" y="60072"/>
                    <a:pt x="9779" y="56897"/>
                  </a:cubicBezTo>
                  <a:cubicBezTo>
                    <a:pt x="6731" y="53722"/>
                    <a:pt x="4191" y="50166"/>
                    <a:pt x="2540" y="46102"/>
                  </a:cubicBezTo>
                  <a:cubicBezTo>
                    <a:pt x="889" y="42038"/>
                    <a:pt x="0" y="37720"/>
                    <a:pt x="0" y="33402"/>
                  </a:cubicBezTo>
                  <a:cubicBezTo>
                    <a:pt x="0" y="29084"/>
                    <a:pt x="889" y="24766"/>
                    <a:pt x="2540" y="20575"/>
                  </a:cubicBezTo>
                  <a:cubicBezTo>
                    <a:pt x="4191" y="16383"/>
                    <a:pt x="6604" y="12828"/>
                    <a:pt x="9779" y="9780"/>
                  </a:cubicBezTo>
                  <a:cubicBezTo>
                    <a:pt x="12954" y="6731"/>
                    <a:pt x="16510" y="4192"/>
                    <a:pt x="20574" y="2541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1"/>
                  </a:cubicBezTo>
                  <a:cubicBezTo>
                    <a:pt x="50038" y="4192"/>
                    <a:pt x="53721" y="6605"/>
                    <a:pt x="56769" y="9780"/>
                  </a:cubicBezTo>
                  <a:cubicBezTo>
                    <a:pt x="59817" y="12955"/>
                    <a:pt x="62357" y="16511"/>
                    <a:pt x="64008" y="20575"/>
                  </a:cubicBezTo>
                  <a:cubicBezTo>
                    <a:pt x="65659" y="24639"/>
                    <a:pt x="66548" y="28957"/>
                    <a:pt x="66548" y="33402"/>
                  </a:cubicBezTo>
                </a:path>
              </a:pathLst>
            </a:custGeom>
            <a:solidFill>
              <a:srgbClr val="4C4C4C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01802" y="4120895"/>
              <a:ext cx="66548" cy="66676"/>
            </a:xfrm>
            <a:custGeom>
              <a:avLst/>
              <a:gdLst/>
              <a:ahLst/>
              <a:cxnLst/>
              <a:rect r="r" b="b" t="t" l="l"/>
              <a:pathLst>
                <a:path h="66676" w="66548">
                  <a:moveTo>
                    <a:pt x="66548" y="33402"/>
                  </a:moveTo>
                  <a:cubicBezTo>
                    <a:pt x="66548" y="37847"/>
                    <a:pt x="65659" y="42038"/>
                    <a:pt x="64008" y="46102"/>
                  </a:cubicBezTo>
                  <a:cubicBezTo>
                    <a:pt x="62357" y="50166"/>
                    <a:pt x="59944" y="53849"/>
                    <a:pt x="56769" y="56897"/>
                  </a:cubicBezTo>
                  <a:cubicBezTo>
                    <a:pt x="53594" y="59945"/>
                    <a:pt x="50038" y="62485"/>
                    <a:pt x="45974" y="64136"/>
                  </a:cubicBezTo>
                  <a:cubicBezTo>
                    <a:pt x="41910" y="65787"/>
                    <a:pt x="37592" y="66676"/>
                    <a:pt x="33274" y="66676"/>
                  </a:cubicBezTo>
                  <a:cubicBezTo>
                    <a:pt x="28956" y="66676"/>
                    <a:pt x="24638" y="65787"/>
                    <a:pt x="20574" y="64136"/>
                  </a:cubicBezTo>
                  <a:cubicBezTo>
                    <a:pt x="16510" y="62485"/>
                    <a:pt x="12827" y="60072"/>
                    <a:pt x="9779" y="56897"/>
                  </a:cubicBezTo>
                  <a:cubicBezTo>
                    <a:pt x="6731" y="53722"/>
                    <a:pt x="4191" y="50166"/>
                    <a:pt x="2540" y="46102"/>
                  </a:cubicBezTo>
                  <a:cubicBezTo>
                    <a:pt x="889" y="42038"/>
                    <a:pt x="0" y="37720"/>
                    <a:pt x="0" y="33402"/>
                  </a:cubicBezTo>
                  <a:cubicBezTo>
                    <a:pt x="0" y="29084"/>
                    <a:pt x="889" y="24766"/>
                    <a:pt x="2540" y="20575"/>
                  </a:cubicBezTo>
                  <a:cubicBezTo>
                    <a:pt x="4191" y="16383"/>
                    <a:pt x="6604" y="12828"/>
                    <a:pt x="9779" y="9780"/>
                  </a:cubicBezTo>
                  <a:cubicBezTo>
                    <a:pt x="12954" y="6731"/>
                    <a:pt x="16510" y="4192"/>
                    <a:pt x="20574" y="2541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1"/>
                  </a:cubicBezTo>
                  <a:cubicBezTo>
                    <a:pt x="50038" y="4192"/>
                    <a:pt x="53721" y="6605"/>
                    <a:pt x="56769" y="9780"/>
                  </a:cubicBezTo>
                  <a:cubicBezTo>
                    <a:pt x="59817" y="12955"/>
                    <a:pt x="62357" y="16511"/>
                    <a:pt x="64008" y="20575"/>
                  </a:cubicBezTo>
                  <a:cubicBezTo>
                    <a:pt x="65659" y="24639"/>
                    <a:pt x="66548" y="28957"/>
                    <a:pt x="66548" y="33402"/>
                  </a:cubicBezTo>
                </a:path>
              </a:pathLst>
            </a:custGeom>
            <a:solidFill>
              <a:srgbClr val="4C4C4C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01802" y="4463795"/>
              <a:ext cx="66548" cy="66676"/>
            </a:xfrm>
            <a:custGeom>
              <a:avLst/>
              <a:gdLst/>
              <a:ahLst/>
              <a:cxnLst/>
              <a:rect r="r" b="b" t="t" l="l"/>
              <a:pathLst>
                <a:path h="66676" w="66548">
                  <a:moveTo>
                    <a:pt x="66548" y="33402"/>
                  </a:moveTo>
                  <a:cubicBezTo>
                    <a:pt x="66548" y="37847"/>
                    <a:pt x="65659" y="42038"/>
                    <a:pt x="64008" y="46102"/>
                  </a:cubicBezTo>
                  <a:cubicBezTo>
                    <a:pt x="62357" y="50166"/>
                    <a:pt x="59944" y="53849"/>
                    <a:pt x="56769" y="56897"/>
                  </a:cubicBezTo>
                  <a:cubicBezTo>
                    <a:pt x="53594" y="59945"/>
                    <a:pt x="50038" y="62485"/>
                    <a:pt x="45974" y="64136"/>
                  </a:cubicBezTo>
                  <a:cubicBezTo>
                    <a:pt x="41910" y="65787"/>
                    <a:pt x="37592" y="66676"/>
                    <a:pt x="33274" y="66676"/>
                  </a:cubicBezTo>
                  <a:cubicBezTo>
                    <a:pt x="28956" y="66676"/>
                    <a:pt x="24638" y="65787"/>
                    <a:pt x="20574" y="64136"/>
                  </a:cubicBezTo>
                  <a:cubicBezTo>
                    <a:pt x="16510" y="62485"/>
                    <a:pt x="12827" y="60072"/>
                    <a:pt x="9779" y="56897"/>
                  </a:cubicBezTo>
                  <a:cubicBezTo>
                    <a:pt x="6731" y="53722"/>
                    <a:pt x="4191" y="50166"/>
                    <a:pt x="2540" y="46102"/>
                  </a:cubicBezTo>
                  <a:cubicBezTo>
                    <a:pt x="889" y="42038"/>
                    <a:pt x="0" y="37720"/>
                    <a:pt x="0" y="33402"/>
                  </a:cubicBezTo>
                  <a:cubicBezTo>
                    <a:pt x="0" y="29084"/>
                    <a:pt x="889" y="24766"/>
                    <a:pt x="2540" y="20575"/>
                  </a:cubicBezTo>
                  <a:cubicBezTo>
                    <a:pt x="4191" y="16383"/>
                    <a:pt x="6604" y="12828"/>
                    <a:pt x="9779" y="9780"/>
                  </a:cubicBezTo>
                  <a:cubicBezTo>
                    <a:pt x="12954" y="6731"/>
                    <a:pt x="16510" y="4192"/>
                    <a:pt x="20574" y="2541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1"/>
                  </a:cubicBezTo>
                  <a:cubicBezTo>
                    <a:pt x="50038" y="4192"/>
                    <a:pt x="53721" y="6605"/>
                    <a:pt x="56769" y="9780"/>
                  </a:cubicBezTo>
                  <a:cubicBezTo>
                    <a:pt x="59817" y="12955"/>
                    <a:pt x="62357" y="16511"/>
                    <a:pt x="64008" y="20575"/>
                  </a:cubicBezTo>
                  <a:cubicBezTo>
                    <a:pt x="65659" y="24639"/>
                    <a:pt x="66548" y="28957"/>
                    <a:pt x="66548" y="33402"/>
                  </a:cubicBezTo>
                </a:path>
              </a:pathLst>
            </a:custGeom>
            <a:solidFill>
              <a:srgbClr val="4C4C4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254372" y="3139821"/>
              <a:ext cx="66803" cy="66675"/>
            </a:xfrm>
            <a:custGeom>
              <a:avLst/>
              <a:gdLst/>
              <a:ahLst/>
              <a:cxnLst/>
              <a:rect r="r" b="b" t="t" l="l"/>
              <a:pathLst>
                <a:path h="66675" w="66803">
                  <a:moveTo>
                    <a:pt x="66803" y="33401"/>
                  </a:moveTo>
                  <a:cubicBezTo>
                    <a:pt x="66803" y="37846"/>
                    <a:pt x="65914" y="42037"/>
                    <a:pt x="64263" y="46101"/>
                  </a:cubicBezTo>
                  <a:cubicBezTo>
                    <a:pt x="62612" y="50165"/>
                    <a:pt x="60199" y="53848"/>
                    <a:pt x="57024" y="56896"/>
                  </a:cubicBezTo>
                  <a:cubicBezTo>
                    <a:pt x="53849" y="59944"/>
                    <a:pt x="50293" y="62484"/>
                    <a:pt x="46229" y="64135"/>
                  </a:cubicBezTo>
                  <a:cubicBezTo>
                    <a:pt x="42165" y="65786"/>
                    <a:pt x="37847" y="66675"/>
                    <a:pt x="33402" y="66675"/>
                  </a:cubicBezTo>
                  <a:cubicBezTo>
                    <a:pt x="28956" y="66675"/>
                    <a:pt x="24766" y="65786"/>
                    <a:pt x="20574" y="64135"/>
                  </a:cubicBezTo>
                  <a:cubicBezTo>
                    <a:pt x="16383" y="62484"/>
                    <a:pt x="12828" y="60071"/>
                    <a:pt x="9779" y="56896"/>
                  </a:cubicBezTo>
                  <a:cubicBezTo>
                    <a:pt x="6731" y="53721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574"/>
                  </a:cubicBezTo>
                  <a:cubicBezTo>
                    <a:pt x="4191" y="16383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9" y="889"/>
                    <a:pt x="28956" y="0"/>
                    <a:pt x="33402" y="0"/>
                  </a:cubicBezTo>
                  <a:cubicBezTo>
                    <a:pt x="37847" y="0"/>
                    <a:pt x="42037" y="889"/>
                    <a:pt x="46229" y="2540"/>
                  </a:cubicBezTo>
                  <a:cubicBezTo>
                    <a:pt x="50420" y="4191"/>
                    <a:pt x="53975" y="6604"/>
                    <a:pt x="57024" y="9779"/>
                  </a:cubicBezTo>
                  <a:cubicBezTo>
                    <a:pt x="60072" y="12954"/>
                    <a:pt x="62612" y="16510"/>
                    <a:pt x="64263" y="20574"/>
                  </a:cubicBezTo>
                  <a:cubicBezTo>
                    <a:pt x="65914" y="24638"/>
                    <a:pt x="66803" y="28956"/>
                    <a:pt x="66803" y="33401"/>
                  </a:cubicBezTo>
                </a:path>
              </a:pathLst>
            </a:custGeom>
            <a:solidFill>
              <a:srgbClr val="4C4C4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254372" y="3768470"/>
              <a:ext cx="66803" cy="66676"/>
            </a:xfrm>
            <a:custGeom>
              <a:avLst/>
              <a:gdLst/>
              <a:ahLst/>
              <a:cxnLst/>
              <a:rect r="r" b="b" t="t" l="l"/>
              <a:pathLst>
                <a:path h="66676" w="66803">
                  <a:moveTo>
                    <a:pt x="66803" y="33402"/>
                  </a:moveTo>
                  <a:cubicBezTo>
                    <a:pt x="66803" y="37847"/>
                    <a:pt x="65914" y="42038"/>
                    <a:pt x="64263" y="46102"/>
                  </a:cubicBezTo>
                  <a:cubicBezTo>
                    <a:pt x="62612" y="50166"/>
                    <a:pt x="60199" y="53849"/>
                    <a:pt x="57024" y="56897"/>
                  </a:cubicBezTo>
                  <a:cubicBezTo>
                    <a:pt x="53849" y="59945"/>
                    <a:pt x="50293" y="62485"/>
                    <a:pt x="46229" y="64136"/>
                  </a:cubicBezTo>
                  <a:cubicBezTo>
                    <a:pt x="42165" y="65787"/>
                    <a:pt x="37847" y="66676"/>
                    <a:pt x="33402" y="66676"/>
                  </a:cubicBezTo>
                  <a:cubicBezTo>
                    <a:pt x="28956" y="66676"/>
                    <a:pt x="24766" y="65787"/>
                    <a:pt x="20574" y="64136"/>
                  </a:cubicBezTo>
                  <a:cubicBezTo>
                    <a:pt x="16383" y="62485"/>
                    <a:pt x="12828" y="60072"/>
                    <a:pt x="9779" y="56897"/>
                  </a:cubicBezTo>
                  <a:cubicBezTo>
                    <a:pt x="6731" y="53722"/>
                    <a:pt x="4191" y="50166"/>
                    <a:pt x="2540" y="46102"/>
                  </a:cubicBezTo>
                  <a:cubicBezTo>
                    <a:pt x="889" y="42038"/>
                    <a:pt x="0" y="37720"/>
                    <a:pt x="0" y="33402"/>
                  </a:cubicBezTo>
                  <a:cubicBezTo>
                    <a:pt x="0" y="29084"/>
                    <a:pt x="889" y="24766"/>
                    <a:pt x="2540" y="20575"/>
                  </a:cubicBezTo>
                  <a:cubicBezTo>
                    <a:pt x="4191" y="16383"/>
                    <a:pt x="6604" y="12828"/>
                    <a:pt x="9779" y="9780"/>
                  </a:cubicBezTo>
                  <a:cubicBezTo>
                    <a:pt x="12954" y="6731"/>
                    <a:pt x="16510" y="4192"/>
                    <a:pt x="20574" y="2541"/>
                  </a:cubicBezTo>
                  <a:cubicBezTo>
                    <a:pt x="24639" y="889"/>
                    <a:pt x="28956" y="0"/>
                    <a:pt x="33402" y="0"/>
                  </a:cubicBezTo>
                  <a:cubicBezTo>
                    <a:pt x="37847" y="0"/>
                    <a:pt x="42037" y="889"/>
                    <a:pt x="46229" y="2541"/>
                  </a:cubicBezTo>
                  <a:cubicBezTo>
                    <a:pt x="50420" y="4192"/>
                    <a:pt x="53975" y="6605"/>
                    <a:pt x="57024" y="9780"/>
                  </a:cubicBezTo>
                  <a:cubicBezTo>
                    <a:pt x="60072" y="12955"/>
                    <a:pt x="62612" y="16511"/>
                    <a:pt x="64263" y="20575"/>
                  </a:cubicBezTo>
                  <a:cubicBezTo>
                    <a:pt x="65914" y="24639"/>
                    <a:pt x="66803" y="28957"/>
                    <a:pt x="66803" y="33402"/>
                  </a:cubicBezTo>
                </a:path>
              </a:pathLst>
            </a:custGeom>
            <a:solidFill>
              <a:srgbClr val="4C4C4C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254372" y="4397120"/>
              <a:ext cx="66803" cy="66676"/>
            </a:xfrm>
            <a:custGeom>
              <a:avLst/>
              <a:gdLst/>
              <a:ahLst/>
              <a:cxnLst/>
              <a:rect r="r" b="b" t="t" l="l"/>
              <a:pathLst>
                <a:path h="66676" w="66803">
                  <a:moveTo>
                    <a:pt x="66803" y="33402"/>
                  </a:moveTo>
                  <a:cubicBezTo>
                    <a:pt x="66803" y="37847"/>
                    <a:pt x="65914" y="42038"/>
                    <a:pt x="64263" y="46102"/>
                  </a:cubicBezTo>
                  <a:cubicBezTo>
                    <a:pt x="62612" y="50166"/>
                    <a:pt x="60199" y="53849"/>
                    <a:pt x="57024" y="56897"/>
                  </a:cubicBezTo>
                  <a:cubicBezTo>
                    <a:pt x="53849" y="59945"/>
                    <a:pt x="50293" y="62485"/>
                    <a:pt x="46229" y="64136"/>
                  </a:cubicBezTo>
                  <a:cubicBezTo>
                    <a:pt x="42165" y="65787"/>
                    <a:pt x="37847" y="66676"/>
                    <a:pt x="33402" y="66676"/>
                  </a:cubicBezTo>
                  <a:cubicBezTo>
                    <a:pt x="28956" y="66676"/>
                    <a:pt x="24766" y="65787"/>
                    <a:pt x="20574" y="64136"/>
                  </a:cubicBezTo>
                  <a:cubicBezTo>
                    <a:pt x="16383" y="62485"/>
                    <a:pt x="12828" y="60072"/>
                    <a:pt x="9779" y="56897"/>
                  </a:cubicBezTo>
                  <a:cubicBezTo>
                    <a:pt x="6731" y="53722"/>
                    <a:pt x="4191" y="50166"/>
                    <a:pt x="2540" y="46102"/>
                  </a:cubicBezTo>
                  <a:cubicBezTo>
                    <a:pt x="889" y="42038"/>
                    <a:pt x="0" y="37720"/>
                    <a:pt x="0" y="33402"/>
                  </a:cubicBezTo>
                  <a:cubicBezTo>
                    <a:pt x="0" y="29084"/>
                    <a:pt x="889" y="24766"/>
                    <a:pt x="2540" y="20575"/>
                  </a:cubicBezTo>
                  <a:cubicBezTo>
                    <a:pt x="4191" y="16383"/>
                    <a:pt x="6604" y="12828"/>
                    <a:pt x="9779" y="9780"/>
                  </a:cubicBezTo>
                  <a:cubicBezTo>
                    <a:pt x="12954" y="6731"/>
                    <a:pt x="16510" y="4192"/>
                    <a:pt x="20574" y="2541"/>
                  </a:cubicBezTo>
                  <a:cubicBezTo>
                    <a:pt x="24639" y="889"/>
                    <a:pt x="28956" y="0"/>
                    <a:pt x="33402" y="0"/>
                  </a:cubicBezTo>
                  <a:cubicBezTo>
                    <a:pt x="37847" y="0"/>
                    <a:pt x="42037" y="889"/>
                    <a:pt x="46229" y="2541"/>
                  </a:cubicBezTo>
                  <a:cubicBezTo>
                    <a:pt x="50420" y="4192"/>
                    <a:pt x="53975" y="6605"/>
                    <a:pt x="57024" y="9780"/>
                  </a:cubicBezTo>
                  <a:cubicBezTo>
                    <a:pt x="60072" y="12955"/>
                    <a:pt x="62612" y="16511"/>
                    <a:pt x="64263" y="20575"/>
                  </a:cubicBezTo>
                  <a:cubicBezTo>
                    <a:pt x="65914" y="24639"/>
                    <a:pt x="66803" y="28957"/>
                    <a:pt x="66803" y="33402"/>
                  </a:cubicBezTo>
                </a:path>
              </a:pathLst>
            </a:custGeom>
            <a:solidFill>
              <a:srgbClr val="4C4C4C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7807325" y="2863596"/>
              <a:ext cx="66675" cy="66675"/>
            </a:xfrm>
            <a:custGeom>
              <a:avLst/>
              <a:gdLst/>
              <a:ahLst/>
              <a:cxnLst/>
              <a:rect r="r" b="b" t="t" l="l"/>
              <a:pathLst>
                <a:path h="66675" w="66675">
                  <a:moveTo>
                    <a:pt x="66675" y="33401"/>
                  </a:moveTo>
                  <a:cubicBezTo>
                    <a:pt x="66675" y="37846"/>
                    <a:pt x="65786" y="42037"/>
                    <a:pt x="64135" y="46101"/>
                  </a:cubicBezTo>
                  <a:cubicBezTo>
                    <a:pt x="62484" y="50165"/>
                    <a:pt x="60071" y="53848"/>
                    <a:pt x="56896" y="56896"/>
                  </a:cubicBezTo>
                  <a:cubicBezTo>
                    <a:pt x="53721" y="59944"/>
                    <a:pt x="50164" y="62484"/>
                    <a:pt x="46101" y="64135"/>
                  </a:cubicBezTo>
                  <a:cubicBezTo>
                    <a:pt x="42038" y="65786"/>
                    <a:pt x="37719" y="66675"/>
                    <a:pt x="33274" y="66675"/>
                  </a:cubicBezTo>
                  <a:cubicBezTo>
                    <a:pt x="28828" y="66675"/>
                    <a:pt x="24638" y="65786"/>
                    <a:pt x="20574" y="64135"/>
                  </a:cubicBezTo>
                  <a:cubicBezTo>
                    <a:pt x="16510" y="62484"/>
                    <a:pt x="12827" y="60071"/>
                    <a:pt x="9779" y="56896"/>
                  </a:cubicBezTo>
                  <a:cubicBezTo>
                    <a:pt x="6731" y="53721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574"/>
                  </a:cubicBezTo>
                  <a:cubicBezTo>
                    <a:pt x="4191" y="16383"/>
                    <a:pt x="6604" y="12827"/>
                    <a:pt x="9779" y="9779"/>
                  </a:cubicBezTo>
                  <a:cubicBezTo>
                    <a:pt x="12954" y="6731"/>
                    <a:pt x="16511" y="4191"/>
                    <a:pt x="20574" y="2540"/>
                  </a:cubicBezTo>
                  <a:cubicBezTo>
                    <a:pt x="24637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401"/>
                  </a:cubicBezTo>
                </a:path>
              </a:pathLst>
            </a:custGeom>
            <a:solidFill>
              <a:srgbClr val="4C4C4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7807325" y="3492245"/>
              <a:ext cx="66675" cy="66676"/>
            </a:xfrm>
            <a:custGeom>
              <a:avLst/>
              <a:gdLst/>
              <a:ahLst/>
              <a:cxnLst/>
              <a:rect r="r" b="b" t="t" l="l"/>
              <a:pathLst>
                <a:path h="66676" w="66675">
                  <a:moveTo>
                    <a:pt x="66675" y="33402"/>
                  </a:moveTo>
                  <a:cubicBezTo>
                    <a:pt x="66675" y="37847"/>
                    <a:pt x="65786" y="42038"/>
                    <a:pt x="64135" y="46102"/>
                  </a:cubicBezTo>
                  <a:cubicBezTo>
                    <a:pt x="62484" y="50166"/>
                    <a:pt x="60071" y="53849"/>
                    <a:pt x="56896" y="56897"/>
                  </a:cubicBezTo>
                  <a:cubicBezTo>
                    <a:pt x="53721" y="59945"/>
                    <a:pt x="50164" y="62485"/>
                    <a:pt x="46101" y="64136"/>
                  </a:cubicBezTo>
                  <a:cubicBezTo>
                    <a:pt x="42038" y="65787"/>
                    <a:pt x="37719" y="66676"/>
                    <a:pt x="33274" y="66676"/>
                  </a:cubicBezTo>
                  <a:cubicBezTo>
                    <a:pt x="28828" y="66676"/>
                    <a:pt x="24638" y="65787"/>
                    <a:pt x="20574" y="64136"/>
                  </a:cubicBezTo>
                  <a:cubicBezTo>
                    <a:pt x="16510" y="62485"/>
                    <a:pt x="12827" y="60072"/>
                    <a:pt x="9779" y="56897"/>
                  </a:cubicBezTo>
                  <a:cubicBezTo>
                    <a:pt x="6731" y="53722"/>
                    <a:pt x="4191" y="50166"/>
                    <a:pt x="2540" y="46102"/>
                  </a:cubicBezTo>
                  <a:cubicBezTo>
                    <a:pt x="889" y="42038"/>
                    <a:pt x="0" y="37720"/>
                    <a:pt x="0" y="33402"/>
                  </a:cubicBezTo>
                  <a:cubicBezTo>
                    <a:pt x="0" y="29084"/>
                    <a:pt x="889" y="24766"/>
                    <a:pt x="2540" y="20575"/>
                  </a:cubicBezTo>
                  <a:cubicBezTo>
                    <a:pt x="4191" y="16383"/>
                    <a:pt x="6604" y="12828"/>
                    <a:pt x="9779" y="9780"/>
                  </a:cubicBezTo>
                  <a:cubicBezTo>
                    <a:pt x="12954" y="6731"/>
                    <a:pt x="16511" y="4192"/>
                    <a:pt x="20574" y="2541"/>
                  </a:cubicBezTo>
                  <a:cubicBezTo>
                    <a:pt x="24637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1"/>
                  </a:cubicBezTo>
                  <a:cubicBezTo>
                    <a:pt x="50038" y="4192"/>
                    <a:pt x="53721" y="6605"/>
                    <a:pt x="56769" y="9780"/>
                  </a:cubicBezTo>
                  <a:cubicBezTo>
                    <a:pt x="59817" y="12955"/>
                    <a:pt x="62357" y="16511"/>
                    <a:pt x="64008" y="20575"/>
                  </a:cubicBezTo>
                  <a:cubicBezTo>
                    <a:pt x="65659" y="24639"/>
                    <a:pt x="66548" y="28957"/>
                    <a:pt x="66548" y="33402"/>
                  </a:cubicBezTo>
                </a:path>
              </a:pathLst>
            </a:custGeom>
            <a:solidFill>
              <a:srgbClr val="4C4C4C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7807325" y="4120895"/>
              <a:ext cx="66675" cy="66676"/>
            </a:xfrm>
            <a:custGeom>
              <a:avLst/>
              <a:gdLst/>
              <a:ahLst/>
              <a:cxnLst/>
              <a:rect r="r" b="b" t="t" l="l"/>
              <a:pathLst>
                <a:path h="66676" w="66675">
                  <a:moveTo>
                    <a:pt x="66675" y="33402"/>
                  </a:moveTo>
                  <a:cubicBezTo>
                    <a:pt x="66675" y="37847"/>
                    <a:pt x="65786" y="42038"/>
                    <a:pt x="64135" y="46102"/>
                  </a:cubicBezTo>
                  <a:cubicBezTo>
                    <a:pt x="62484" y="50166"/>
                    <a:pt x="60071" y="53849"/>
                    <a:pt x="56896" y="56897"/>
                  </a:cubicBezTo>
                  <a:cubicBezTo>
                    <a:pt x="53721" y="59945"/>
                    <a:pt x="50164" y="62485"/>
                    <a:pt x="46101" y="64136"/>
                  </a:cubicBezTo>
                  <a:cubicBezTo>
                    <a:pt x="42038" y="65787"/>
                    <a:pt x="37719" y="66676"/>
                    <a:pt x="33274" y="66676"/>
                  </a:cubicBezTo>
                  <a:cubicBezTo>
                    <a:pt x="28828" y="66676"/>
                    <a:pt x="24638" y="65787"/>
                    <a:pt x="20574" y="64136"/>
                  </a:cubicBezTo>
                  <a:cubicBezTo>
                    <a:pt x="16510" y="62485"/>
                    <a:pt x="12827" y="60072"/>
                    <a:pt x="9779" y="56897"/>
                  </a:cubicBezTo>
                  <a:cubicBezTo>
                    <a:pt x="6731" y="53722"/>
                    <a:pt x="4191" y="50166"/>
                    <a:pt x="2540" y="46102"/>
                  </a:cubicBezTo>
                  <a:cubicBezTo>
                    <a:pt x="889" y="42038"/>
                    <a:pt x="0" y="37720"/>
                    <a:pt x="0" y="33402"/>
                  </a:cubicBezTo>
                  <a:cubicBezTo>
                    <a:pt x="0" y="29084"/>
                    <a:pt x="889" y="24766"/>
                    <a:pt x="2540" y="20575"/>
                  </a:cubicBezTo>
                  <a:cubicBezTo>
                    <a:pt x="4191" y="16383"/>
                    <a:pt x="6604" y="12828"/>
                    <a:pt x="9779" y="9780"/>
                  </a:cubicBezTo>
                  <a:cubicBezTo>
                    <a:pt x="12954" y="6731"/>
                    <a:pt x="16511" y="4192"/>
                    <a:pt x="20574" y="2541"/>
                  </a:cubicBezTo>
                  <a:cubicBezTo>
                    <a:pt x="24637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1"/>
                  </a:cubicBezTo>
                  <a:cubicBezTo>
                    <a:pt x="50038" y="4192"/>
                    <a:pt x="53721" y="6605"/>
                    <a:pt x="56769" y="9780"/>
                  </a:cubicBezTo>
                  <a:cubicBezTo>
                    <a:pt x="59817" y="12955"/>
                    <a:pt x="62357" y="16511"/>
                    <a:pt x="64008" y="20575"/>
                  </a:cubicBezTo>
                  <a:cubicBezTo>
                    <a:pt x="65659" y="24639"/>
                    <a:pt x="66548" y="28957"/>
                    <a:pt x="66548" y="33402"/>
                  </a:cubicBezTo>
                </a:path>
              </a:pathLst>
            </a:custGeom>
            <a:solidFill>
              <a:srgbClr val="4C4C4C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7807325" y="4749545"/>
              <a:ext cx="66675" cy="66676"/>
            </a:xfrm>
            <a:custGeom>
              <a:avLst/>
              <a:gdLst/>
              <a:ahLst/>
              <a:cxnLst/>
              <a:rect r="r" b="b" t="t" l="l"/>
              <a:pathLst>
                <a:path h="66676" w="66675">
                  <a:moveTo>
                    <a:pt x="66675" y="33402"/>
                  </a:moveTo>
                  <a:cubicBezTo>
                    <a:pt x="66675" y="37847"/>
                    <a:pt x="65786" y="42038"/>
                    <a:pt x="64135" y="46102"/>
                  </a:cubicBezTo>
                  <a:cubicBezTo>
                    <a:pt x="62484" y="50166"/>
                    <a:pt x="60071" y="53849"/>
                    <a:pt x="56896" y="56897"/>
                  </a:cubicBezTo>
                  <a:cubicBezTo>
                    <a:pt x="53721" y="59945"/>
                    <a:pt x="50164" y="62485"/>
                    <a:pt x="46101" y="64136"/>
                  </a:cubicBezTo>
                  <a:cubicBezTo>
                    <a:pt x="42038" y="65787"/>
                    <a:pt x="37719" y="66676"/>
                    <a:pt x="33274" y="66676"/>
                  </a:cubicBezTo>
                  <a:cubicBezTo>
                    <a:pt x="28828" y="66676"/>
                    <a:pt x="24638" y="65787"/>
                    <a:pt x="20574" y="64136"/>
                  </a:cubicBezTo>
                  <a:cubicBezTo>
                    <a:pt x="16510" y="62485"/>
                    <a:pt x="12827" y="60072"/>
                    <a:pt x="9779" y="56897"/>
                  </a:cubicBezTo>
                  <a:cubicBezTo>
                    <a:pt x="6731" y="53722"/>
                    <a:pt x="4191" y="50166"/>
                    <a:pt x="2540" y="46102"/>
                  </a:cubicBezTo>
                  <a:cubicBezTo>
                    <a:pt x="889" y="42038"/>
                    <a:pt x="0" y="37720"/>
                    <a:pt x="0" y="33402"/>
                  </a:cubicBezTo>
                  <a:cubicBezTo>
                    <a:pt x="0" y="29084"/>
                    <a:pt x="889" y="24766"/>
                    <a:pt x="2540" y="20575"/>
                  </a:cubicBezTo>
                  <a:cubicBezTo>
                    <a:pt x="4191" y="16383"/>
                    <a:pt x="6604" y="12828"/>
                    <a:pt x="9779" y="9780"/>
                  </a:cubicBezTo>
                  <a:cubicBezTo>
                    <a:pt x="12954" y="6731"/>
                    <a:pt x="16511" y="4192"/>
                    <a:pt x="20574" y="2541"/>
                  </a:cubicBezTo>
                  <a:cubicBezTo>
                    <a:pt x="24637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1"/>
                  </a:cubicBezTo>
                  <a:cubicBezTo>
                    <a:pt x="50038" y="4192"/>
                    <a:pt x="53721" y="6605"/>
                    <a:pt x="56769" y="9780"/>
                  </a:cubicBezTo>
                  <a:cubicBezTo>
                    <a:pt x="59817" y="12955"/>
                    <a:pt x="62357" y="16511"/>
                    <a:pt x="64008" y="20575"/>
                  </a:cubicBezTo>
                  <a:cubicBezTo>
                    <a:pt x="65659" y="24639"/>
                    <a:pt x="66548" y="28957"/>
                    <a:pt x="66548" y="33402"/>
                  </a:cubicBezTo>
                </a:path>
              </a:pathLst>
            </a:custGeom>
            <a:solidFill>
              <a:srgbClr val="4C4C4C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20163" y="3243501"/>
            <a:ext cx="9709852" cy="47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3488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Limitações do Estudo e Considerações Futuras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44942" y="3922081"/>
            <a:ext cx="58731" cy="48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9"/>
              </a:lnSpc>
            </a:pPr>
            <a:r>
              <a:rPr lang="en-US" sz="1743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0163" y="3979231"/>
            <a:ext cx="2721226" cy="42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0"/>
              </a:lnSpc>
            </a:pPr>
            <a:r>
              <a:rPr lang="en-US" sz="1743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Limitações</a:t>
            </a:r>
            <a:r>
              <a:rPr lang="en-US" sz="1743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1743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Metodológicas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67570" y="4448308"/>
            <a:ext cx="46987" cy="39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69864" y="4131631"/>
            <a:ext cx="2774537" cy="55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743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Implicações</a:t>
            </a:r>
            <a:r>
              <a:rPr lang="en-US" sz="1743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1743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para</a:t>
            </a:r>
            <a:r>
              <a:rPr lang="en-US" sz="1743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1743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a</a:t>
            </a:r>
            <a:r>
              <a:rPr lang="en-US" sz="1743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1743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Prática Clínica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04424" y="4724533"/>
            <a:ext cx="46987" cy="39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19565" y="3979231"/>
            <a:ext cx="1784718" cy="42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0"/>
              </a:lnSpc>
            </a:pPr>
            <a:r>
              <a:rPr lang="en-US" sz="1743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Direções</a:t>
            </a:r>
            <a:r>
              <a:rPr lang="en-US" sz="1743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1743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Futuras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11253" y="4448308"/>
            <a:ext cx="46987" cy="39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03532" y="4562608"/>
            <a:ext cx="2411682" cy="27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Limitadoa cancro damama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3532" y="4848358"/>
            <a:ext cx="2626604" cy="187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HER2-positivo</a:t>
            </a:r>
          </a:p>
          <a:p>
            <a:pPr algn="l">
              <a:lnSpc>
                <a:spcPts val="3149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Apenas dois pontos temporais </a:t>
            </a:r>
          </a:p>
          <a:p>
            <a:pPr algn="l">
              <a:lnSpc>
                <a:spcPts val="135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analisados</a:t>
            </a:r>
          </a:p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Uso exclusivo de sangue EDTA</a:t>
            </a:r>
          </a:p>
          <a:p>
            <a:pPr algn="l">
              <a:lnSpc>
                <a:spcPts val="1912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Criopreservação: potencial </a:t>
            </a:r>
          </a:p>
          <a:p>
            <a:pPr algn="l">
              <a:lnSpc>
                <a:spcPts val="2587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variabilidade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53233" y="4838833"/>
            <a:ext cx="2776585" cy="181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5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Padronizaçãodeprotocolosde transporte</a:t>
            </a:r>
          </a:p>
          <a:p>
            <a:pPr algn="just">
              <a:lnSpc>
                <a:spcPts val="3149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Otimização logística em ensaios </a:t>
            </a:r>
          </a:p>
          <a:p>
            <a:pPr algn="just">
              <a:lnSpc>
                <a:spcPts val="135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multicêntricos</a:t>
            </a:r>
          </a:p>
          <a:p>
            <a:pPr algn="just">
              <a:lnSpc>
                <a:spcPts val="3487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Impacto na interpretação de </a:t>
            </a:r>
          </a:p>
          <a:p>
            <a:pPr algn="just">
              <a:lnSpc>
                <a:spcPts val="1012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biomarcadores imunológicos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002934" y="4562608"/>
            <a:ext cx="2672896" cy="244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Testar outrostipos de cancro e populações</a:t>
            </a:r>
          </a:p>
          <a:p>
            <a:pPr algn="l">
              <a:lnSpc>
                <a:spcPts val="3149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Avaliar estratégias de </a:t>
            </a:r>
          </a:p>
          <a:p>
            <a:pPr algn="l">
              <a:lnSpc>
                <a:spcPts val="135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preservação alternativas</a:t>
            </a:r>
          </a:p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Desenvolver estabilização </a:t>
            </a:r>
          </a:p>
          <a:p>
            <a:pPr algn="l">
              <a:lnSpc>
                <a:spcPts val="1012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celular durante o transporte</a:t>
            </a:r>
          </a:p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Validar resultados em coortes </a:t>
            </a:r>
          </a:p>
          <a:p>
            <a:pPr algn="l">
              <a:lnSpc>
                <a:spcPts val="1012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independentes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E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1822704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0163" y="2929176"/>
            <a:ext cx="6100258" cy="47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3488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Conclusões e Impacto Clínico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64569" y="3722056"/>
            <a:ext cx="58731" cy="48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9"/>
              </a:lnSpc>
            </a:pPr>
            <a:r>
              <a:rPr lang="en-US" sz="174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6321" y="3903031"/>
            <a:ext cx="1880035" cy="30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Conclusões</a:t>
            </a:r>
            <a:r>
              <a:rPr lang="en-US" sz="1743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174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Chave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6321" y="5769931"/>
            <a:ext cx="2590676" cy="36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sz="174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Recomendações Práticas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9546" y="6143758"/>
            <a:ext cx="46987" cy="35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99712" y="3836356"/>
            <a:ext cx="2134152" cy="36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sz="174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Implicações Clínicas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11931" y="4210183"/>
            <a:ext cx="46987" cy="35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99712" y="5769931"/>
            <a:ext cx="2705424" cy="36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sz="174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Impacto na Imunoterapia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30089" y="6143758"/>
            <a:ext cx="46987" cy="35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0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9690" y="4238758"/>
            <a:ext cx="3996490" cy="101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Atraso no processamento compromete PBMCs. Células NK são altamente vulneráveis. Funcionalidade imunológica é reduzida.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690" y="6181858"/>
            <a:ext cx="4385062" cy="100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Definirlimites máximos de tempo. Rastreamento temporal em estudos multicêntricos. Desenvolver métodos de estabilização celular.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83071" y="6181858"/>
            <a:ext cx="3731657" cy="31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Afetaavaliação deanticorposmonoclonais.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83071" y="6524758"/>
            <a:ext cx="4105418" cy="65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Revalidação de ensaios funcionais é necessária. Essencial para novos biomarcadores preditivos.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83071" y="4238758"/>
            <a:ext cx="2964799" cy="32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Otimizar protocolos detransporte.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83071" y="4591183"/>
            <a:ext cx="4112638" cy="66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139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Diretrizes rigorosas para biobancos. Considerar tempo de processamento na análise.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DAG5cEVNoOU</dc:identifier>
  <dcterms:modified xsi:type="dcterms:W3CDTF">2011-08-01T06:04:30Z</dcterms:modified>
  <cp:revision>1</cp:revision>
  <dc:title>apresentacao.pdf</dc:title>
</cp:coreProperties>
</file>